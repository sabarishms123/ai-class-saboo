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9" r:id="rId13"/>
    <p:sldId id="267"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10.897"/>
    </inkml:context>
    <inkml:brush xml:id="br0">
      <inkml:brushProperty name="width" value="0.035" units="cm"/>
      <inkml:brushProperty name="height" value="0.035" units="cm"/>
    </inkml:brush>
  </inkml:definitions>
  <inkml:trace contextRef="#ctx0" brushRef="#br0">0 184 24575,'1'-6'0,"0"0"0,0 0 0,1 1 0,-1-1 0,1 0 0,0 1 0,1 0 0,-1-1 0,1 1 0,0 0 0,1 0 0,-1 0 0,1 1 0,0-1 0,0 1 0,0 0 0,7-4 0,2-3 0,0 2 0,0-1 0,1 2 0,0 0 0,18-7 0,-18 10 0,0 0 0,0 1 0,1 0 0,0 1 0,0 0 0,0 2 0,0 0 0,0 0 0,22 3 0,-31-2 0,1 1 0,-1 0 0,0 1 0,-1-1 0,1 1 0,0 0 0,0 1 0,-1-1 0,1 1 0,-1 0 0,0 1 0,0-1 0,0 1 0,0 0 0,-1 0 0,1 0 0,-1 1 0,0 0 0,0-1 0,-1 2 0,0-1 0,0 0 0,0 1 0,0-1 0,2 10 0,0 4 0,-1-1 0,-1 1 0,-1-1 0,1 31 0,-11 76 0,7-116 0,0 1 0,-1-1 0,-1 1 0,1-1 0,-1 0 0,-1 0 0,0 0 0,0-1 0,-9 14 0,9-17 0,0 0 0,0 0 0,-1 0 0,1 0 0,-1-1 0,0 0 0,-1 0 0,1 0 0,-1-1 0,0 1 0,0-1 0,0-1 0,0 1 0,-11 2 0,-19 1-1365,2-3-5461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12.497"/>
    </inkml:context>
    <inkml:brush xml:id="br0">
      <inkml:brushProperty name="width" value="0.035" units="cm"/>
      <inkml:brushProperty name="height" value="0.035" units="cm"/>
    </inkml:brush>
  </inkml:definitions>
  <inkml:trace contextRef="#ctx0" brushRef="#br0">217 28 24575,'-4'-3'0,"0"0"0,0 1 0,-1-1 0,1 1 0,-1 0 0,1 0 0,-1 0 0,0 1 0,0-1 0,-6 0 0,2 1 0,0 0 0,0 0 0,-1 0 0,-14 2 0,20 0 0,0 0 0,0 0 0,-1 1 0,1-1 0,0 1 0,0 0 0,0 0 0,0 0 0,1 1 0,-1-1 0,0 1 0,1 0 0,0 0 0,0 0 0,0 0 0,0 1 0,0-1 0,1 1 0,-1 0 0,1 0 0,0 0 0,0 0 0,1 0 0,-3 7 0,-1 6 0,1-1 0,1 1 0,0 0 0,0 34 0,5 89 0,1-50 0,-3-82 0,1-1 0,0 1 0,0-1 0,1 1 0,0-1 0,1 0 0,-1 0 0,1 0 0,1 0 0,-1 0 0,1-1 0,0 1 0,1-1 0,6 7 0,8 7 0,2 0 0,34 26 0,-11-11 0,-24-17 0,46 30 0,-58-43 0,1 0 0,0-1 0,1 0 0,-1 0 0,1-1 0,0 0 0,0-1 0,15 2 0,-13-3-124,0 0 0,0-1 0,0 0 0,0 0 0,0-2 0,-1 1-1,1-1 1,0-1 0,-1 0 0,12-6 0,5-5-6702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22.773"/>
    </inkml:context>
    <inkml:brush xml:id="br0">
      <inkml:brushProperty name="width" value="0.035" units="cm"/>
      <inkml:brushProperty name="height" value="0.035" units="cm"/>
    </inkml:brush>
  </inkml:definitions>
  <inkml:trace contextRef="#ctx0" brushRef="#br0">0 281 24575,'1'-8'0,"-1"-1"0,1 1 0,1 0 0,-1 0 0,1 0 0,1 0 0,-1 0 0,1 0 0,1 1 0,6-13 0,-2 9 0,0 0 0,1 0 0,0 0 0,0 1 0,19-14 0,-20 18 0,0 1 0,1 0 0,0 1 0,0 0 0,0 0 0,0 1 0,1 0 0,-1 0 0,1 1 0,0 1 0,0 0 0,0 0 0,0 1 0,0 0 0,-1 0 0,15 3 0,-21-2 0,0-1 0,0 1 0,0 0 0,0 0 0,-1 0 0,1 1 0,0-1 0,0 1 0,-1-1 0,1 1 0,-1 0 0,1 0 0,-1 0 0,0 0 0,1 0 0,-1 1 0,-1-1 0,1 1 0,0-1 0,0 1 0,-1 0 0,0 0 0,1-1 0,-1 1 0,0 0 0,-1 0 0,2 5 0,1 8 0,-1 0 0,-1 0 0,0 0 0,-2 18 0,1-12 0,-4 90 0,3 72 0,1-178 0,1 1 0,0 0 0,0 0 0,0-1 0,1 1 0,0-1 0,1 0 0,-1 1 0,1-1 0,0 0 0,1 0 0,7 9 0,-7-10 0,0-1 0,0 0 0,1-1 0,-1 1 0,1-1 0,0 0 0,0 0 0,0 0 0,1-1 0,-1 0 0,0 0 0,1 0 0,0-1 0,-1 0 0,8 1 0,0 0 0,-1-1 0,0 0 0,0-1 0,25-3 0,-32 2 0,-1 0 0,1 0 0,-1-1 0,1 1 0,-1-1 0,0 0 0,1 0 0,-1-1 0,0 1 0,0-1 0,-1 0 0,1 0 0,-1 0 0,1-1 0,-1 1 0,3-5 0,7-11 0,-1-1 0,-1 0 0,-1-1 0,0 0 0,-2 0 0,9-32 0,-4-6 0,7-75 0,-8 49 0,6-74 0,-16 137 0,-2 39 0,-1-1 0,0 816 0,1-490 0,0-337 0,0 0 0,0 0 0,-1 0 0,0 0 0,0 0 0,0-1 0,0 1 0,-1 0 0,0 0 0,-3 5 0,4-8 0,0 0 0,-1-1 0,1 1 0,0-1 0,-1 1 0,1-1 0,-1 1 0,1-1 0,-1 0 0,0 0 0,0 0 0,1 0 0,-1 0 0,0 0 0,0 0 0,0-1 0,0 1 0,0-1 0,0 1 0,0-1 0,0 0 0,0 0 0,0 0 0,0 0 0,0 0 0,0 0 0,0-1 0,-3 0 0,-3-1 0,-1-1 0,1 0 0,0 0 0,0-1 0,0 0 0,0-1 0,1 0 0,0 0 0,0-1 0,0 1 0,-7-9 0,5 5 0,1 0 0,1-1 0,-1 0 0,2 0 0,-1 0 0,1-1 0,-7-19 0,11 23 0,1 1 0,0 0 0,0-1 0,1 1 0,-1-1 0,1 1 0,1-1 0,-1 0 0,1 1 0,0 0 0,1-1 0,0 1 0,0 0 0,0 0 0,0-1 0,1 2 0,0-1 0,5-7 0,7-10 0,2 1 0,35-39 0,-46 55 0,133-137 0,51-56 0,-152 151-1365,-13 10-5461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26.325"/>
    </inkml:context>
    <inkml:brush xml:id="br0">
      <inkml:brushProperty name="width" value="0.035" units="cm"/>
      <inkml:brushProperty name="height" value="0.035" units="cm"/>
    </inkml:brush>
  </inkml:definitions>
  <inkml:trace contextRef="#ctx0" brushRef="#br0">0 153 24575,'0'-2'0,"1"1"0,-1-1 0,1 1 0,-1-1 0,1 1 0,0-1 0,0 1 0,0-1 0,0 1 0,0 0 0,0-1 0,0 1 0,0 0 0,0 0 0,2-2 0,23-16 0,-19 14 0,13-8 0,0 0 0,1 2 0,0 1 0,1 0 0,1 2 0,-1 0 0,1 1 0,0 2 0,34-5 0,21 3 0,119 5 0,-163 3 0,-26-1 0,0 1 0,1 0 0,-1 1 0,0-1 0,0 2 0,-1-1 0,1 1 0,0 0 0,-1 1 0,11 6 0,4 6 0,39 33 0,-8-5 0,16-1 0,-55-36 0,0 1 0,0 1 0,-1 0 0,0 1 0,0 0 0,-1 1 0,18 22 0,55 91 0,-73-105 0,-1 0 0,-1 1 0,0 0 0,-1 0 0,-2 1 0,0 0 0,-1 1 0,-1-1 0,2 31 0,0 26 0,-4 101 0,-3-138 0,0 94 0,-4 152 0,3-269 0,-2 1 0,-1 0 0,0-1 0,-1 0 0,-11 26 0,-47 83 0,10-23 0,28-54 0,-36 53 0,17-33 0,-13 34-1365,43-75-5461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27.441"/>
    </inkml:context>
    <inkml:brush xml:id="br0">
      <inkml:brushProperty name="width" value="0.035" units="cm"/>
      <inkml:brushProperty name="height" value="0.035" units="cm"/>
    </inkml:brush>
  </inkml:definitions>
  <inkml:trace contextRef="#ctx0" brushRef="#br0">1 1 24575,'0'101'0,"19"149"0,-10-146 0,-4-40 0,-4-59 0,-1 1 0,1-1 0,1 0 0,-1 1 0,1-1 0,0 0 0,4 8 0,-5-11 0,0 0 0,0 0 0,1-1 0,-1 1 0,0-1 0,1 1 0,-1-1 0,0 0 0,1 1 0,0-1 0,-1 0 0,1 0 0,0 0 0,0 0 0,-1 0 0,1-1 0,0 1 0,0 0 0,0-1 0,0 0 0,0 1 0,0-1 0,0 0 0,0 0 0,2 0 0,7-2 0,0-1 0,0-1 0,-1 0 0,1 0 0,-1-1 0,0 0 0,0-1 0,-1 0 0,13-10 0,-2 2 0,34-24-682,82-77-1,-103 83-6143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33.860"/>
    </inkml:context>
    <inkml:brush xml:id="br0">
      <inkml:brushProperty name="width" value="0.035" units="cm"/>
      <inkml:brushProperty name="height" value="0.035" units="cm"/>
    </inkml:brush>
  </inkml:definitions>
  <inkml:trace contextRef="#ctx0" brushRef="#br0">1 0 24575,'0'1209'-1365,"0"-1181"-5461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36.148"/>
    </inkml:context>
    <inkml:brush xml:id="br0">
      <inkml:brushProperty name="width" value="0.035" units="cm"/>
      <inkml:brushProperty name="height" value="0.035" units="cm"/>
    </inkml:brush>
  </inkml:definitions>
  <inkml:trace contextRef="#ctx0" brushRef="#br0">1 1 24575,'540'0'0,"-507"2"0,0 1 0,33 7 0,43 5 0,-6-14 0,9 0 0,-93 1 0,31 9 0,14 1 0,275-7 0,-191-7 0,264 2-1365,-387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37.586"/>
    </inkml:context>
    <inkml:brush xml:id="br0">
      <inkml:brushProperty name="width" value="0.035" units="cm"/>
      <inkml:brushProperty name="height" value="0.035" units="cm"/>
    </inkml:brush>
  </inkml:definitions>
  <inkml:trace contextRef="#ctx0" brushRef="#br0">1 1 24575,'5'5'0,"12"6"0,3 8 0,-1 10 0,-5 5 0,1 8 0,-2 1 0,-4 4 0,-2-1 0,2-3 0,-1-4 0,-1-4 0,-2-2 0,3-1 0,6-2 0,0 0 0,-2-6-8191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38.305"/>
    </inkml:context>
    <inkml:brush xml:id="br0">
      <inkml:brushProperty name="width" value="0.035" units="cm"/>
      <inkml:brushProperty name="height" value="0.035" units="cm"/>
    </inkml:brush>
  </inkml:definitions>
  <inkml:trace contextRef="#ctx0" brushRef="#br0">0 14 24575,'5'-6'0,"7"-1"0,2 6 0,2 18 0,0 12 0,-3 10 0,-4 20 0,-4 5 0,-2-3 0,-2-2 0,-1-6 0,0-7 0,4-5 0,2-11-8191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38.928"/>
    </inkml:context>
    <inkml:brush xml:id="br0">
      <inkml:brushProperty name="width" value="0.035" units="cm"/>
      <inkml:brushProperty name="height" value="0.035" units="cm"/>
    </inkml:brush>
  </inkml:definitions>
  <inkml:trace contextRef="#ctx0" brushRef="#br0">1 0 24575,'1'0'0,"0"1"0,0-1 0,0 0 0,0 1 0,0-1 0,0 1 0,0-1 0,0 1 0,0 0 0,0-1 0,0 1 0,0 0 0,0-1 0,-1 1 0,1 0 0,0 0 0,0 0 0,-1 0 0,1 0 0,-1 0 0,1 0 0,-1 0 0,1 0 0,-1 0 0,0 0 0,1 0 0,-1 2 0,6 34 0,-5-35 0,32 320 0,-5-130 0,-13-104 0,5 141 0,-20-190-1365,0-6-5461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39.491"/>
    </inkml:context>
    <inkml:brush xml:id="br0">
      <inkml:brushProperty name="width" value="0.035" units="cm"/>
      <inkml:brushProperty name="height" value="0.035" units="cm"/>
    </inkml:brush>
  </inkml:definitions>
  <inkml:trace contextRef="#ctx0" brushRef="#br0">1 0 24575,'0'10'0,"0"19"0,0 20 0,0 22 0,5 20 0,7 9 0,6-1 0,1-8 0,-4-9 0,-3-8 0,-5-11 0,-3-7 0,-2-7 0,-2-7 0,0-11-8191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40.724"/>
    </inkml:context>
    <inkml:brush xml:id="br0">
      <inkml:brushProperty name="width" value="0.035" units="cm"/>
      <inkml:brushProperty name="height" value="0.035" units="cm"/>
    </inkml:brush>
  </inkml:definitions>
  <inkml:trace contextRef="#ctx0" brushRef="#br0">0 251 24575,'5'-6'0,"0"-1"0,0 1 0,0 0 0,1 0 0,0 0 0,0 1 0,0 0 0,0 0 0,1 1 0,0 0 0,11-5 0,7-6 0,-18 11 0,39-26 0,2 1 0,1 3 0,78-30 0,-106 50 0,0 1 0,0 1 0,0 1 0,31 0 0,88 6 0,-41 1 0,-59-4 0,0 1 0,54 10 0,-55-5-72,-27-5-90,-1 1 1,1 0-1,-1 0 0,0 1 1,0 1-1,0 0 1,17 9-1,-8 0-6664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41.686"/>
    </inkml:context>
    <inkml:brush xml:id="br0">
      <inkml:brushProperty name="width" value="0.035" units="cm"/>
      <inkml:brushProperty name="height" value="0.035" units="cm"/>
    </inkml:brush>
  </inkml:definitions>
  <inkml:trace contextRef="#ctx0" brushRef="#br0">1 0 24575,'53'124'0,"0"-22"0,-25-52 0,22 57 0,-43-88 0,-1 0 0,0 0 0,-2 0 0,0 0 0,-1 1 0,-1 0 0,0 20 0,-4-20 11,0 1 0,-1 0 0,0-1 0,-11 32 0,-35 75-336,26-69-770,6-17-5731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50.087"/>
    </inkml:context>
    <inkml:brush xml:id="br0">
      <inkml:brushProperty name="width" value="0.035" units="cm"/>
      <inkml:brushProperty name="height" value="0.035" units="cm"/>
    </inkml:brush>
  </inkml:definitions>
  <inkml:trace contextRef="#ctx0" brushRef="#br0">55 1038 24575,'0'1'0,"0"-1"0,0 1 0,1-1 0,-1 1 0,0-1 0,0 0 0,0 1 0,0-1 0,0 1 0,0-1 0,1 1 0,-1-1 0,0 0 0,0 1 0,1-1 0,-1 1 0,0-1 0,1 0 0,-1 0 0,0 1 0,1-1 0,-1 0 0,0 1 0,1-1 0,-1 0 0,1 0 0,-1 0 0,1 1 0,17 0 0,16-8 0,-19 1 0,0-1 0,0 0 0,-1-1 0,0 0 0,-1-1 0,0-1 0,0 0 0,-1-1 0,-1 0 0,0-1 0,0-1 0,-1 1 0,0-1 0,10-20 0,-8 11 0,0-1 0,-2 0 0,0-1 0,-2 0 0,0 0 0,-2-1 0,-1 0 0,4-41 0,-10-129 0,-1 119 0,2 71 0,0 0 0,-1-1 0,1 1 0,-1 0 0,0-1 0,-1 1 0,1 0 0,-1 0 0,-3-7 0,3 9 0,0 1 0,0-1 0,0 0 0,0 1 0,0 0 0,-1 0 0,1-1 0,-1 1 0,1 1 0,-1-1 0,0 0 0,0 1 0,0-1 0,0 1 0,0 0 0,-6-2 0,-9 0 0,-1-1 0,0 2 0,-35 0 0,-58 9 0,106-6 0,0 0 0,0 0 0,0 0 0,0 1 0,0 0 0,0 0 0,0 1 0,1-1 0,-1 1 0,1 0 0,0 1 0,-7 5 0,10-7 0,0 0 0,0 0 0,0 0 0,0 1 0,0-1 0,1 1 0,-1-1 0,1 1 0,0 0 0,-1-1 0,1 1 0,1 0 0,-1 0 0,0 0 0,1 0 0,-1 0 0,1 0 0,0 0 0,0 0 0,0 0 0,0 0 0,0 0 0,1 0 0,0-1 0,-1 1 0,1 0 0,2 5 0,0-2 0,0-1 0,0 1 0,0 0 0,1-1 0,0 1 0,0-1 0,0 0 0,0-1 0,1 1 0,0-1 0,0 0 0,0 0 0,1 0 0,-1-1 0,1 0 0,0 0 0,0 0 0,0-1 0,7 3 0,11 1 0,1-1 0,0-2 0,44 2 0,-40-3 0,43 7 0,-67-8 0,1 0 0,-1 1 0,-1 0 0,1 0 0,0 0 0,0 0 0,-1 1 0,1 0 0,-1 0 0,0 0 0,0 0 0,0 1 0,0-1 0,-1 1 0,0 0 0,1 0 0,-1 1 0,-1-1 0,1 1 0,-1-1 0,1 1 0,-1 0 0,0 0 0,-1 0 0,2 5 0,1 12 0,-1 1 0,-1-1 0,-1 0 0,-3 36 0,1-24 0,1 35 0,1-12 0,-12 95 0,10-144 0,-1 0 0,0 1 0,0-1 0,0 0 0,-1 0 0,-1-1 0,1 1 0,-1 0 0,-6 8 0,7-13 0,0 1 0,-1-1 0,1 1 0,-1-1 0,0 0 0,0 0 0,0-1 0,0 1 0,0-1 0,0 0 0,-1 0 0,1 0 0,-1-1 0,0 0 0,1 0 0,-1 0 0,-7 1 0,3-1 0,0-1 0,0 0 0,-1 0 0,1-1 0,0 0 0,-1 0 0,1-1 0,0 0 0,0-1 0,1 0 0,-1 0 0,0-1 0,-14-9 0,17 9 0,0-1 0,0 1 0,1-1 0,0-1 0,0 1 0,0-1 0,0 0 0,1 0 0,0 0 0,0-1 0,1 1 0,-1-1 0,1 0 0,1 0 0,0 0 0,0 0 0,-2-13 0,1-3 0,0-30 0,3 44 0,0 1 0,1-1 0,0 1 0,0-1 0,1 1 0,5-15 0,-6 20 0,1 0 0,0 1 0,0-1 0,0 1 0,0-1 0,0 1 0,0 0 0,1 0 0,-1 0 0,1 0 0,0 0 0,-1 1 0,1-1 0,0 1 0,0-1 0,0 1 0,0 0 0,0 0 0,0 1 0,6-2 0,3 1 0,1 0 0,0 0 0,23 3 0,-28-2 0,0 2 0,0-1 0,-1 1 0,1 0 0,0 1 0,-1 0 0,1 0 0,-1 0 0,11 8 0,0 2 0,0 1 0,16 17 0,-10-10 0,-17-15 0,1 0 0,-1-1 0,1 0 0,0 0 0,0-1 0,0 0 0,1-1 0,-1 0 0,1 0 0,0-1 0,0 0 0,0 0 0,14 0 0,-17-2 0,-1 0 0,1 0 0,-1 0 0,0-1 0,1 0 0,-1 0 0,0 0 0,1-1 0,-1 0 0,0 0 0,0 0 0,0-1 0,-1 1 0,1-1 0,0 0 0,-1-1 0,0 1 0,0-1 0,0 0 0,0 0 0,-1 0 0,1 0 0,4-8 0,3-11 0,0 0 0,-1 0 0,-1-1 0,-2 0 0,0 0 0,-1-1 0,-2 0 0,-1 0 0,1-51 0,-5-217 0,0 141 0,1 144 0,-1-24 0,1 30 0,0 0 0,-1 1 0,1-1 0,0 1 0,-1-1 0,1 1 0,-1-1 0,1 1 0,-1-1 0,0 1 0,1 0 0,-1-1 0,0 1 0,0 0 0,-2-2 0,3 3 0,0 0 0,0 0 0,0-1 0,-1 1 0,1 0 0,0 0 0,0 0 0,0 0 0,0 0 0,-1 0 0,1 0 0,0 0 0,0 0 0,0 0 0,-1 0 0,1 0 0,0 0 0,0 0 0,0 0 0,0 0 0,-1 0 0,1 0 0,0 0 0,0 1 0,0-1 0,0 0 0,0 0 0,-1 0 0,1 0 0,0 0 0,0 0 0,0 0 0,0 1 0,0-1 0,0 0 0,0 0 0,-1 0 0,1 0 0,0 0 0,0 1 0,-4 10 0,-1 13 0,0 51 0,4 1 0,2-1 0,20 128 0,-7-138 0,2 0 0,34 82 0,-39-114 0,-8-27 0,-1 0 0,0 0 0,1-1 0,0 1 0,1-1 0,-1 1 0,8 7 0,-11-12 0,1-1 0,0 1 0,0 0 0,-1-1 0,1 1 0,0 0 0,0-1 0,0 1 0,0-1 0,0 0 0,0 1 0,0-1 0,0 0 0,0 1 0,0-1 0,0 0 0,0 0 0,0 0 0,0 0 0,2 0 0,-1-1 0,-1 1 0,1-1 0,0 0 0,-1 0 0,1 0 0,-1 0 0,0 0 0,1 0 0,-1 0 0,0-1 0,0 1 0,0 0 0,1-1 0,-1 1 0,-1-1 0,1 1 0,1-2 0,3-9 0,0 0 0,-1-1 0,0 1 0,-1-1 0,-1 0 0,0 0 0,0 0 0,-1-14 0,5-32 0,-1 20 0,-4 26 0,1-1 0,1 1 0,6-25 0,-1 52 0,15 66 0,-16-50 0,2 0 0,1 0 0,15 31 0,-21-54 0,-1 0 0,1 0 0,0-1 0,1 1 0,0-1 0,0 0 0,0-1 0,0 1 0,1-1 0,0 0 0,0 0 0,1-1 0,-1 0 0,1 0 0,0-1 0,0 1 0,12 2 0,-15-4 0,-1-2 0,1 1 0,0 0 0,0-1 0,0 0 0,0 0 0,0 0 0,0 0 0,0-1 0,0 1 0,-1-1 0,1 0 0,0 0 0,0 0 0,-1-1 0,6-2 0,-3 0 0,-1 0 0,0 0 0,0 0 0,0 0 0,-1-1 0,0 1 0,0-1 0,0 0 0,5-9 0,-1-1 0,0-1 0,-1-1 0,-1 1 0,-1-1 0,0 0 0,4-29 0,-5 1 0,-4-90 0,-2 70 0,2 57 0,0 1 0,0-1 0,-1 0 0,0 1 0,-1-1 0,0 1 0,-4-11 0,5 15 0,-1 0 0,0 0 0,0 0 0,0 0 0,0 1 0,0-1 0,0 0 0,-1 1 0,0 0 0,1-1 0,-1 1 0,0 0 0,0 1 0,0-1 0,0 0 0,0 1 0,0 0 0,-6-2 0,-11-1 0,0 0 0,0 2 0,-1 0 0,1 1 0,-1 2 0,-32 3 0,49-3 0,-1-1 0,1 1 0,0 0 0,0 0 0,0 1 0,-1-1 0,1 1 0,1 0 0,-1 0 0,0 0 0,0 1 0,1-1 0,-1 1 0,1 0 0,0 0 0,0 0 0,0 0 0,0 1 0,1-1 0,-4 6 0,0 3 0,1 0 0,0 0 0,1 1 0,0 0 0,-3 20 0,4-21 0,1 0 0,1 1 0,0-1 0,0 1 0,1-1 0,1 1 0,0-1 0,4 18 0,-3-22 0,1 0 0,0-1 0,0 1 0,1 0 0,0-1 0,0 0 0,0 0 0,1 0 0,0 0 0,1-1 0,-1 0 0,1 0 0,11 8 0,-7-7 0,0-1 0,1 0 0,0 0 0,1-1 0,-1 0 0,1-1 0,0 0 0,0-1 0,16 2 0,-13-3 0,0 0 0,0-1 0,1-1 0,-1-1 0,0 0 0,1-1 0,15-3 0,-27 4 0,0-1 0,1 1 0,-1 0 0,0-1 0,0 0 0,0 0 0,0 0 0,-1-1 0,1 1 0,-1-1 0,1 0 0,-1 0 0,0 0 0,0 0 0,0-1 0,0 1 0,-1-1 0,0 1 0,1-1 0,-1 0 0,-1 0 0,1 0 0,0 0 0,-1-1 0,1-4 0,1-9 0,-2 0 0,0 0 0,-1 1 0,0-1 0,-4-18 0,2 17 0,1 0 0,1-27 0,2 44 0,1 6 0,2 8 0,0-1 0,-1 0 0,0 1 0,0 0 0,1 16 0,8 68 0,-10-57 0,-2-34 0,34 374 0,-33-332 0,2 0 0,2-1 0,18 70 0,-22-108 0,0-1 0,1 0 0,-1-1 0,7 12 0,-8-18 0,-1 0 0,0 1 0,0-1 0,0 0 0,0 1 0,1-1 0,-1 0 0,0 0 0,0 1 0,0-1 0,1 0 0,-1 1 0,0-1 0,1 0 0,-1 0 0,0 0 0,1 1 0,-1-1 0,0 0 0,0 0 0,1 0 0,-1 0 0,1 0 0,-1 0 0,0 1 0,1-1 0,-1 0 0,0 0 0,1 0 0,-1 0 0,0 0 0,1 0 0,-1-1 0,1 1 0,-1 0 0,0 0 0,1 0 0,-1 0 0,0 0 0,1 0 0,-1-1 0,0 1 0,0 0 0,1 0 0,-1 0 0,0-1 0,1 1 0,-1 0 0,0-1 0,0 1 0,0 0 0,1 0 0,-1-1 0,0 1 0,0 0 0,0-1 0,1 0 0,1-5 0,0 1 0,0-1 0,0-1 0,0 1 0,-1 0 0,0 0 0,0-10 0,-1-54 0,-25-233 0,-2-56 0,26 313 0,-1 25 0,2-1 0,1 1 0,0 0 0,7-31 0,-3 39 0,-5 13 0,0-1 0,0 1 0,0 0 0,0 0 0,0-1 0,0 1 0,1 0 0,-1 0 0,0-1 0,0 1 0,0 0 0,0 0 0,0 0 0,1-1 0,-1 1 0,0 0 0,0 0 0,0 0 0,1 0 0,-1-1 0,0 1 0,0 0 0,1 0 0,-1 0 0,0 0 0,0 0 0,1 0 0,-1 0 0,0 0 0,0 0 0,1 0 0,-1 0 0,0 0 0,0 0 0,1 0 0,-1 0 0,1 0 0,-1 0 0,0 1 0,0-1 0,0 0 0,0 1 0,0-1 0,0 1 0,0-1 0,0 0 0,0 1 0,0-1 0,0 1 0,0-1 0,0 0 0,0 1 0,0-1 0,0 1 0,-1-1 0,1 0 0,0 1 0,0-1 0,0 0 0,-1 1 0,1-1 0,0 0 0,0 1 0,-1-1 0,1 0 0,0 0 0,-1 1 0,1-1 0,0 0 0,-1 0 0,1 1 0,0-1 0,-1 0 0,1 0 0,-1 0 0,0 0 0,-15 9 0,18-9 0,-1-1 0,0 1 0,0-1 0,1 0 0,-1 1 0,0-1 0,0 0 0,0 0 0,0 0 0,0 0 0,0 0 0,0 0 0,0 0 0,0-1 0,-1 1 0,1 0 0,0 0 0,-1 0 0,1-1 0,-1 1 0,0 0 0,1-1 0,-1 1 0,0-1 0,0 1 0,1 0 0,-1-1 0,0 1 0,-1-1 0,1 1 0,0 0 0,0-1 0,0 1 0,-1-1 0,1 1 0,-1 0 0,1 0 0,-1-1 0,0 1 0,1 0 0,-1 0 0,0 0 0,0-1 0,0 1 0,0 0 0,0 0 0,0 0 0,0 1 0,0-1 0,0 0 0,0 0 0,-1 1 0,1-1 0,0 0 0,-1 1 0,1-1 0,0 1 0,-1 0 0,1-1 0,0 1 0,-1 0 0,1 0 0,-1 0 0,1 0 0,0 0 0,-1 0 0,1 0 0,-1 1 0,0-1 0,14-4 0,1 1 0,0 0 0,1 0 0,-1 1 0,0 1 0,1 0 0,-1 1 0,18 2 0,-5-2 0,-21 0 0,1 0 0,-1 1 0,0-1 0,1 1 0,-1 0 0,0 0 0,0 1 0,0 0 0,0 0 0,0 0 0,0 0 0,6 5 0,-8-5 0,0 1 0,0 0 0,0 1 0,0-1 0,0 0 0,-1 1 0,0-1 0,1 1 0,-1 0 0,-1 0 0,1 0 0,0 0 0,-1 0 0,0 0 0,0 0 0,0 5 0,3 24 0,-3 1 0,0-1 0,-6 42 0,1 1 0,4-70 0,0 0 0,0 0 0,-1 0 0,0 0 0,0-1 0,-1 1 0,-1 6 0,1-10 0,1 1 0,0-1 0,-1 0 0,1 0 0,-1 0 0,0 0 0,0 0 0,0 0 0,0 0 0,0-1 0,0 1 0,0-1 0,0 1 0,-1-1 0,1 0 0,0 0 0,-1 0 0,-3 1 0,-43 7 0,48-9 0,1 0 0,0 0 0,0 0 0,0 0 0,0 0 0,0 0 0,0 0 0,-1 0 0,1 0 0,0 0 0,0 0 0,0 0 0,0 0 0,0 0 0,-1 0 0,1 0 0,0 0 0,0 0 0,0 0 0,0 0 0,0 0 0,-1-1 0,1 1 0,0 0 0,0 0 0,0 0 0,0 0 0,0 0 0,0 0 0,0 0 0,0 0 0,-1-1 0,1 1 0,0 0 0,0 0 0,0 0 0,0 0 0,0 0 0,0 0 0,0-1 0,0 1 0,0 0 0,0 0 0,0 0 0,4-9 0,17-14 0,-12 13 0,6-11 0,-2 0 0,0-1 0,-1 0 0,-1-1 0,9-31 0,15-29 0,-30 72 0,1 1 0,1-1 0,-1 2 0,2-1 0,-1 1 0,18-16 0,0 4 0,33-21 0,-6 4 0,-45 33 0,0-1 0,0 0 0,-1 0 0,0-1 0,0 0 0,-1 0 0,0 0 0,0 0 0,7-17 0,-7 12 0,-1 0 0,-1 0 0,0 0 0,-1-1 0,0 1 0,0-20 0,-1 21 0,0-3 0,-1 1 0,0 0 0,0 0 0,-2 0 0,-2-15 0,3 25 0,0-1 0,0 1 0,0 0 0,-1 0 0,1 1 0,-1-1 0,1 0 0,-1 0 0,0 1 0,0-1 0,0 1 0,-1-1 0,1 1 0,0 0 0,-1 0 0,0 0 0,1 0 0,-1 1 0,0-1 0,0 1 0,0-1 0,0 1 0,0 0 0,0 0 0,0 1 0,-4-2 0,-22-1 0,0 2 0,1 0 0,-35 5 0,18-2 0,41-2 0,-5 1 0,-1-1 0,1 1 0,0 0 0,-11 4 0,17-4 0,1 0 0,-1 0 0,1 0 0,0 0 0,-1 0 0,1 1 0,0-1 0,0 1 0,0-1 0,0 1 0,0 0 0,0 0 0,1 0 0,-1 0 0,1 0 0,-1 0 0,1 0 0,0 1 0,0-1 0,-1 3 0,0 1 0,0 1 0,0 0 0,1-1 0,0 1 0,0 0 0,1 0 0,0 0 0,0-1 0,0 1 0,1 0 0,3 12 0,-1-9 0,1 1 0,0 0 0,0-1 0,1 0 0,1 0 0,10 13 0,6 5 0,1-2 0,2-1 0,41 34 0,-37-34 0,-8-6 0,43 29 0,-55-43 0,0 0 0,0-1 0,0 0 0,0 0 0,1-1 0,0 0 0,0 0 0,18 1 0,-12-3 0,0 0 0,0-1 0,31-3 0,-39 1 0,1 0 0,0 0 0,-1-1 0,1 0 0,-1-1 0,0 1 0,0-2 0,12-7 0,4-7-682,42-43-1,-40 36-6143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6:27:51.590"/>
    </inkml:context>
    <inkml:brush xml:id="br0">
      <inkml:brushProperty name="width" value="0.035" units="cm"/>
      <inkml:brushProperty name="height" value="0.035" units="cm"/>
    </inkml:brush>
  </inkml:definitions>
  <inkml:trace contextRef="#ctx0" brushRef="#br0">1 253 24575,'0'-17'0,"0"-1"0,1 0 0,1 0 0,8-32 0,-7 43 0,-1 0 0,1 0 0,0 0 0,1 0 0,0 1 0,0 0 0,0-1 0,1 1 0,0 1 0,0-1 0,0 1 0,1 0 0,12-9 0,-9 9 0,0 0 0,1 0 0,0 1 0,0 0 0,0 1 0,0 0 0,0 1 0,1 0 0,-1 0 0,1 1 0,0 1 0,-1-1 0,1 2 0,-1 0 0,14 2 0,-17-2 0,1 1 0,0 0 0,0 0 0,-1 0 0,1 1 0,-1 0 0,0 1 0,0 0 0,0 0 0,0 0 0,-1 1 0,0 0 0,0 0 0,0 0 0,0 1 0,-1 0 0,0 0 0,0 1 0,-1-1 0,7 13 0,-5-2 0,0 0 0,-2 0 0,1 1 0,-2 0 0,2 28 0,-4 95 0,-2-104 0,-3 41 0,-3-1 0,-4 0 0,-27 102 0,35-172 0,1 0 0,-1 1 0,0-1 0,0 0 0,-1 0 0,0 0 0,0-1 0,-1 0 0,-10 12 0,-1-3 0,-1-1 0,-20 15 0,3-3 0,23-18-455,1-1 0,-18 10 0,7-7-6371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3129959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1402468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991871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BC243D-4E0A-4721-8AC9-B5E4A835B160}" type="datetimeFigureOut">
              <a:rPr lang="en-GB" smtClean="0"/>
              <a:t>25/01/2026</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2321956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BC243D-4E0A-4721-8AC9-B5E4A835B160}" type="datetimeFigureOut">
              <a:rPr lang="en-GB" smtClean="0"/>
              <a:t>25/01/2026</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1450655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BC243D-4E0A-4721-8AC9-B5E4A835B160}" type="datetimeFigureOut">
              <a:rPr lang="en-GB" smtClean="0"/>
              <a:t>25/01/2026</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2472719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BC243D-4E0A-4721-8AC9-B5E4A835B160}" type="datetimeFigureOut">
              <a:rPr lang="en-GB" smtClean="0"/>
              <a:t>25/01/2026</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513257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BC243D-4E0A-4721-8AC9-B5E4A835B160}" type="datetimeFigureOut">
              <a:rPr lang="en-GB" smtClean="0"/>
              <a:t>25/01/2026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1939290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BC243D-4E0A-4721-8AC9-B5E4A835B160}" type="datetimeFigureOut">
              <a:rPr lang="en-GB" smtClean="0"/>
              <a:t>25/01/2026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1102139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428344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263AA9A-9BDD-428A-A0E6-6A09A85B8A68}"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93589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6BC243D-4E0A-4721-8AC9-B5E4A835B160}" type="datetimeFigureOut">
              <a:rPr lang="en-GB" smtClean="0"/>
              <a:t>25/01/2026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1303709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6BC243D-4E0A-4721-8AC9-B5E4A835B160}" type="datetimeFigureOut">
              <a:rPr lang="en-GB" smtClean="0"/>
              <a:t>25/01/2026</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63AA9A-9BDD-428A-A0E6-6A09A85B8A68}"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42128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6BC243D-4E0A-4721-8AC9-B5E4A835B160}" type="datetimeFigureOut">
              <a:rPr lang="en-GB" smtClean="0"/>
              <a:t>25/01/2026</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550771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2777710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BC243D-4E0A-4721-8AC9-B5E4A835B160}" type="datetimeFigureOut">
              <a:rPr lang="en-GB" smtClean="0"/>
              <a:t>25/01/2026</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263AA9A-9BDD-428A-A0E6-6A09A85B8A68}" type="slidenum">
              <a:rPr lang="en-GB" smtClean="0"/>
              <a:t>‹#›</a:t>
            </a:fld>
            <a:endParaRPr lang="en-GB"/>
          </a:p>
        </p:txBody>
      </p:sp>
    </p:spTree>
    <p:extLst>
      <p:ext uri="{BB962C8B-B14F-4D97-AF65-F5344CB8AC3E}">
        <p14:creationId xmlns:p14="http://schemas.microsoft.com/office/powerpoint/2010/main" val="3457992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6BC243D-4E0A-4721-8AC9-B5E4A835B160}" type="datetimeFigureOut">
              <a:rPr lang="en-GB" smtClean="0"/>
              <a:t>25/01/2026</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263AA9A-9BDD-428A-A0E6-6A09A85B8A68}" type="slidenum">
              <a:rPr lang="en-GB" smtClean="0"/>
              <a:t>‹#›</a:t>
            </a:fld>
            <a:endParaRPr lang="en-GB"/>
          </a:p>
        </p:txBody>
      </p:sp>
    </p:spTree>
    <p:extLst>
      <p:ext uri="{BB962C8B-B14F-4D97-AF65-F5344CB8AC3E}">
        <p14:creationId xmlns:p14="http://schemas.microsoft.com/office/powerpoint/2010/main" val="136284050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artificial-intelligence/what-is-simulated-annealing/"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dsa/genetic-algorithms/"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image" Target="../media/image17.png"/><Relationship Id="rId26" Type="http://schemas.openxmlformats.org/officeDocument/2006/relationships/image" Target="../media/image21.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image" Target="../media/image9.png"/><Relationship Id="rId16" Type="http://schemas.openxmlformats.org/officeDocument/2006/relationships/image" Target="../media/image16.png"/><Relationship Id="rId20" Type="http://schemas.openxmlformats.org/officeDocument/2006/relationships/image" Target="../media/image18.png"/><Relationship Id="rId29" Type="http://schemas.openxmlformats.org/officeDocument/2006/relationships/customXml" Target="../ink/ink14.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customXml" Target="../ink/ink5.xml"/><Relationship Id="rId24" Type="http://schemas.openxmlformats.org/officeDocument/2006/relationships/image" Target="../media/image20.png"/><Relationship Id="rId32" Type="http://schemas.openxmlformats.org/officeDocument/2006/relationships/image" Target="../media/image24.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2.png"/><Relationship Id="rId10" Type="http://schemas.openxmlformats.org/officeDocument/2006/relationships/image" Target="../media/image13.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 Id="rId22" Type="http://schemas.openxmlformats.org/officeDocument/2006/relationships/image" Target="../media/image19.png"/><Relationship Id="rId27" Type="http://schemas.openxmlformats.org/officeDocument/2006/relationships/customXml" Target="../ink/ink13.xml"/><Relationship Id="rId30"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AF05-FCFC-2702-F1F3-87F133BA2A9E}"/>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C12E4910-4BD5-B312-0286-F3B340EDF4B9}"/>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1C53576E-61A6-FB45-6DDF-0503C9411158}"/>
              </a:ext>
            </a:extLst>
          </p:cNvPr>
          <p:cNvPicPr>
            <a:picLocks noChangeAspect="1"/>
          </p:cNvPicPr>
          <p:nvPr/>
        </p:nvPicPr>
        <p:blipFill>
          <a:blip r:embed="rId2"/>
          <a:stretch>
            <a:fillRect/>
          </a:stretch>
        </p:blipFill>
        <p:spPr>
          <a:xfrm>
            <a:off x="0" y="-1"/>
            <a:ext cx="12191734" cy="6966857"/>
          </a:xfrm>
          <a:prstGeom prst="rect">
            <a:avLst/>
          </a:prstGeom>
        </p:spPr>
      </p:pic>
      <p:sp>
        <p:nvSpPr>
          <p:cNvPr id="6" name="Rectangle 5">
            <a:extLst>
              <a:ext uri="{FF2B5EF4-FFF2-40B4-BE49-F238E27FC236}">
                <a16:creationId xmlns:a16="http://schemas.microsoft.com/office/drawing/2014/main" id="{116A1BC9-437B-6C14-CAE3-B58DC49E2A48}"/>
              </a:ext>
            </a:extLst>
          </p:cNvPr>
          <p:cNvSpPr/>
          <p:nvPr/>
        </p:nvSpPr>
        <p:spPr>
          <a:xfrm>
            <a:off x="6977743" y="2731181"/>
            <a:ext cx="4212771" cy="6978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PRESENTED BY –</a:t>
            </a:r>
            <a:r>
              <a:rPr lang="en-GB" b="1" dirty="0"/>
              <a:t>SABARISH M S</a:t>
            </a:r>
          </a:p>
          <a:p>
            <a:pPr algn="ctr"/>
            <a:r>
              <a:rPr lang="en-GB" dirty="0"/>
              <a:t>CSE 3</a:t>
            </a:r>
            <a:r>
              <a:rPr lang="en-GB" baseline="30000" dirty="0"/>
              <a:t>RD</a:t>
            </a:r>
            <a:r>
              <a:rPr lang="en-GB" dirty="0"/>
              <a:t> YEAR </a:t>
            </a:r>
          </a:p>
        </p:txBody>
      </p:sp>
      <p:pic>
        <p:nvPicPr>
          <p:cNvPr id="8" name="Picture 7">
            <a:extLst>
              <a:ext uri="{FF2B5EF4-FFF2-40B4-BE49-F238E27FC236}">
                <a16:creationId xmlns:a16="http://schemas.microsoft.com/office/drawing/2014/main" id="{046598A4-B935-C090-F710-5BE0F1B750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3171" y="3694002"/>
            <a:ext cx="3341914" cy="2466180"/>
          </a:xfrm>
          <a:prstGeom prst="rect">
            <a:avLst/>
          </a:prstGeom>
        </p:spPr>
      </p:pic>
      <p:pic>
        <p:nvPicPr>
          <p:cNvPr id="4" name="Picture 3">
            <a:extLst>
              <a:ext uri="{FF2B5EF4-FFF2-40B4-BE49-F238E27FC236}">
                <a16:creationId xmlns:a16="http://schemas.microsoft.com/office/drawing/2014/main" id="{A27F75C0-860C-06C4-811C-81A37127E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4184" y="3589792"/>
            <a:ext cx="3439887" cy="3501455"/>
          </a:xfrm>
          <a:prstGeom prst="rect">
            <a:avLst/>
          </a:prstGeom>
        </p:spPr>
      </p:pic>
    </p:spTree>
    <p:extLst>
      <p:ext uri="{BB962C8B-B14F-4D97-AF65-F5344CB8AC3E}">
        <p14:creationId xmlns:p14="http://schemas.microsoft.com/office/powerpoint/2010/main" val="1269205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7DBE-6C8A-4D05-63B1-B45AACE261F6}"/>
              </a:ext>
            </a:extLst>
          </p:cNvPr>
          <p:cNvSpPr>
            <a:spLocks noGrp="1"/>
          </p:cNvSpPr>
          <p:nvPr>
            <p:ph type="title"/>
          </p:nvPr>
        </p:nvSpPr>
        <p:spPr>
          <a:xfrm>
            <a:off x="4759181" y="946778"/>
            <a:ext cx="8911687" cy="1280890"/>
          </a:xfrm>
        </p:spPr>
        <p:txBody>
          <a:bodyPr>
            <a:normAutofit/>
          </a:bodyPr>
          <a:lstStyle/>
          <a:p>
            <a:r>
              <a:rPr lang="en-GB" sz="6000" baseline="30000" dirty="0">
                <a:latin typeface="Times New Roman" panose="02020603050405020304" pitchFamily="18" charset="0"/>
                <a:cs typeface="Times New Roman" panose="02020603050405020304" pitchFamily="18" charset="0"/>
              </a:rPr>
              <a:t>UNIT -3</a:t>
            </a:r>
          </a:p>
        </p:txBody>
      </p:sp>
      <p:sp>
        <p:nvSpPr>
          <p:cNvPr id="3" name="Content Placeholder 2">
            <a:extLst>
              <a:ext uri="{FF2B5EF4-FFF2-40B4-BE49-F238E27FC236}">
                <a16:creationId xmlns:a16="http://schemas.microsoft.com/office/drawing/2014/main" id="{B4307788-499B-D097-FEC0-54629305865F}"/>
              </a:ext>
            </a:extLst>
          </p:cNvPr>
          <p:cNvSpPr>
            <a:spLocks noGrp="1"/>
          </p:cNvSpPr>
          <p:nvPr>
            <p:ph idx="1"/>
          </p:nvPr>
        </p:nvSpPr>
        <p:spPr/>
        <p:txBody>
          <a:bodyPr>
            <a:normAutofit/>
          </a:bodyPr>
          <a:lstStyle/>
          <a:p>
            <a:r>
              <a:rPr lang="en-GB" sz="4800" dirty="0">
                <a:solidFill>
                  <a:schemeClr val="accent1"/>
                </a:solidFill>
                <a:latin typeface="Times New Roman" panose="02020603050405020304" pitchFamily="18" charset="0"/>
                <a:cs typeface="Times New Roman" panose="02020603050405020304" pitchFamily="18" charset="0"/>
              </a:rPr>
              <a:t>PROBLEM SOLVING BY NON-CLASSICAL AND ADVANCED SEARCH </a:t>
            </a:r>
          </a:p>
        </p:txBody>
      </p:sp>
    </p:spTree>
    <p:extLst>
      <p:ext uri="{BB962C8B-B14F-4D97-AF65-F5344CB8AC3E}">
        <p14:creationId xmlns:p14="http://schemas.microsoft.com/office/powerpoint/2010/main" val="1717591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358E3-8685-6559-C4D7-C5C322110582}"/>
              </a:ext>
            </a:extLst>
          </p:cNvPr>
          <p:cNvSpPr txBox="1"/>
          <p:nvPr/>
        </p:nvSpPr>
        <p:spPr>
          <a:xfrm>
            <a:off x="2438400" y="1293836"/>
            <a:ext cx="8926286" cy="923330"/>
          </a:xfrm>
          <a:prstGeom prst="rect">
            <a:avLst/>
          </a:prstGeom>
          <a:noFill/>
        </p:spPr>
        <p:txBody>
          <a:bodyPr wrap="square">
            <a:spAutoFit/>
          </a:bodyPr>
          <a:lstStyle/>
          <a:p>
            <a:r>
              <a:rPr lang="en-GB" sz="54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NON-CLASSICAL SEARCH</a:t>
            </a:r>
          </a:p>
        </p:txBody>
      </p:sp>
      <p:sp>
        <p:nvSpPr>
          <p:cNvPr id="15" name="Right Brace 14">
            <a:extLst>
              <a:ext uri="{FF2B5EF4-FFF2-40B4-BE49-F238E27FC236}">
                <a16:creationId xmlns:a16="http://schemas.microsoft.com/office/drawing/2014/main" id="{C5CFF76A-72B2-4119-A907-9BE6EAC9F18C}"/>
              </a:ext>
            </a:extLst>
          </p:cNvPr>
          <p:cNvSpPr/>
          <p:nvPr/>
        </p:nvSpPr>
        <p:spPr>
          <a:xfrm rot="16200000">
            <a:off x="6439879" y="-480732"/>
            <a:ext cx="923329" cy="7119260"/>
          </a:xfrm>
          <a:prstGeom prst="rightBrace">
            <a:avLst>
              <a:gd name="adj1" fmla="val 0"/>
              <a:gd name="adj2" fmla="val 4416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TextBox 15">
            <a:extLst>
              <a:ext uri="{FF2B5EF4-FFF2-40B4-BE49-F238E27FC236}">
                <a16:creationId xmlns:a16="http://schemas.microsoft.com/office/drawing/2014/main" id="{26821A72-51F9-1E91-A9F3-04FB100F5C47}"/>
              </a:ext>
            </a:extLst>
          </p:cNvPr>
          <p:cNvSpPr txBox="1"/>
          <p:nvPr/>
        </p:nvSpPr>
        <p:spPr>
          <a:xfrm>
            <a:off x="2438400" y="3704078"/>
            <a:ext cx="3494315" cy="1077218"/>
          </a:xfrm>
          <a:prstGeom prst="rect">
            <a:avLst/>
          </a:prstGeom>
          <a:noFill/>
        </p:spPr>
        <p:txBody>
          <a:bodyPr wrap="square" rtlCol="0">
            <a:spAutoFit/>
          </a:bodyPr>
          <a:lstStyle/>
          <a:p>
            <a:r>
              <a:rPr lang="en-GB" sz="3200" b="1" dirty="0">
                <a:solidFill>
                  <a:schemeClr val="accent1"/>
                </a:solidFill>
                <a:latin typeface="Times New Roman" panose="02020603050405020304" pitchFamily="18" charset="0"/>
                <a:cs typeface="Times New Roman" panose="02020603050405020304" pitchFamily="18" charset="0"/>
              </a:rPr>
              <a:t>LOCAL SEARCH ALGORITHM </a:t>
            </a:r>
          </a:p>
        </p:txBody>
      </p:sp>
      <p:sp>
        <p:nvSpPr>
          <p:cNvPr id="17" name="TextBox 16">
            <a:extLst>
              <a:ext uri="{FF2B5EF4-FFF2-40B4-BE49-F238E27FC236}">
                <a16:creationId xmlns:a16="http://schemas.microsoft.com/office/drawing/2014/main" id="{00CEA81C-7A41-0A1E-4088-C8516E35A1A1}"/>
              </a:ext>
            </a:extLst>
          </p:cNvPr>
          <p:cNvSpPr txBox="1"/>
          <p:nvPr/>
        </p:nvSpPr>
        <p:spPr>
          <a:xfrm>
            <a:off x="8251371" y="3940630"/>
            <a:ext cx="4103913" cy="1077218"/>
          </a:xfrm>
          <a:prstGeom prst="rect">
            <a:avLst/>
          </a:prstGeom>
          <a:noFill/>
        </p:spPr>
        <p:txBody>
          <a:bodyPr wrap="square" rtlCol="0">
            <a:spAutoFit/>
          </a:bodyPr>
          <a:lstStyle/>
          <a:p>
            <a:r>
              <a:rPr lang="en-GB" sz="3200" b="1" dirty="0">
                <a:solidFill>
                  <a:schemeClr val="accent1"/>
                </a:solidFill>
                <a:latin typeface="Times New Roman" panose="02020603050405020304" pitchFamily="18" charset="0"/>
                <a:cs typeface="Times New Roman" panose="02020603050405020304" pitchFamily="18" charset="0"/>
              </a:rPr>
              <a:t>OPTIMIZATION PROBLEMS</a:t>
            </a:r>
          </a:p>
        </p:txBody>
      </p:sp>
      <p:sp>
        <p:nvSpPr>
          <p:cNvPr id="19" name="TextBox 18">
            <a:extLst>
              <a:ext uri="{FF2B5EF4-FFF2-40B4-BE49-F238E27FC236}">
                <a16:creationId xmlns:a16="http://schemas.microsoft.com/office/drawing/2014/main" id="{71FA9687-A2C8-1261-2375-5439EB1A0E1B}"/>
              </a:ext>
            </a:extLst>
          </p:cNvPr>
          <p:cNvSpPr txBox="1"/>
          <p:nvPr/>
        </p:nvSpPr>
        <p:spPr>
          <a:xfrm>
            <a:off x="3016645" y="4781296"/>
            <a:ext cx="3722915" cy="193899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lvl="0" defTabSz="914400" eaLnBrk="0" fontAlgn="base" hangingPunct="0">
              <a:spcBef>
                <a:spcPct val="0"/>
              </a:spcBef>
              <a:spcAft>
                <a:spcPct val="0"/>
              </a:spcAft>
              <a:buFontTx/>
              <a:buChar char="•"/>
            </a:pPr>
            <a:endParaRPr lang="en-US" altLang="en-US" sz="2000" dirty="0">
              <a:solidFill>
                <a:srgbClr val="C0000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000" dirty="0">
                <a:solidFill>
                  <a:srgbClr val="C00000"/>
                </a:solidFill>
                <a:latin typeface="Arial" panose="020B0604020202020204" pitchFamily="34" charset="0"/>
              </a:rPr>
              <a:t>Hill-Climbing Search Algorithm</a:t>
            </a:r>
          </a:p>
          <a:p>
            <a:pPr lvl="0" defTabSz="914400" eaLnBrk="0" fontAlgn="base" hangingPunct="0">
              <a:spcBef>
                <a:spcPct val="0"/>
              </a:spcBef>
              <a:spcAft>
                <a:spcPct val="0"/>
              </a:spcAft>
              <a:buFontTx/>
              <a:buChar char="•"/>
            </a:pPr>
            <a:r>
              <a:rPr lang="en-US" altLang="en-US" sz="2000" dirty="0">
                <a:solidFill>
                  <a:srgbClr val="C00000"/>
                </a:solidFill>
                <a:latin typeface="Arial" panose="020B0604020202020204" pitchFamily="34" charset="0"/>
              </a:rPr>
              <a:t>Simulated Annealing</a:t>
            </a:r>
          </a:p>
          <a:p>
            <a:pPr lvl="0" defTabSz="914400" eaLnBrk="0" fontAlgn="base" hangingPunct="0">
              <a:spcBef>
                <a:spcPct val="0"/>
              </a:spcBef>
              <a:spcAft>
                <a:spcPct val="0"/>
              </a:spcAft>
              <a:buFontTx/>
              <a:buChar char="•"/>
            </a:pPr>
            <a:r>
              <a:rPr lang="en-US" altLang="en-US" sz="2000" dirty="0">
                <a:solidFill>
                  <a:srgbClr val="C00000"/>
                </a:solidFill>
                <a:latin typeface="Arial" panose="020B0604020202020204" pitchFamily="34" charset="0"/>
              </a:rPr>
              <a:t>Genetic Algorithms</a:t>
            </a:r>
          </a:p>
          <a:p>
            <a:pPr lvl="0" defTabSz="914400" eaLnBrk="0" fontAlgn="base" hangingPunct="0">
              <a:spcBef>
                <a:spcPct val="0"/>
              </a:spcBef>
              <a:spcAft>
                <a:spcPct val="0"/>
              </a:spcAft>
              <a:buFontTx/>
              <a:buChar char="•"/>
            </a:pPr>
            <a:r>
              <a:rPr lang="en-US" altLang="en-US" sz="2000" dirty="0">
                <a:solidFill>
                  <a:srgbClr val="C00000"/>
                </a:solidFill>
                <a:latin typeface="Arial" panose="020B0604020202020204" pitchFamily="34" charset="0"/>
              </a:rPr>
              <a:t>Tabu Search</a:t>
            </a:r>
          </a:p>
          <a:p>
            <a:endParaRPr lang="en-GB" sz="2000" dirty="0">
              <a:solidFill>
                <a:srgbClr val="C00000"/>
              </a:solidFill>
            </a:endParaRPr>
          </a:p>
        </p:txBody>
      </p:sp>
      <p:sp>
        <p:nvSpPr>
          <p:cNvPr id="20" name="Arrow: Bent-Up 19">
            <a:extLst>
              <a:ext uri="{FF2B5EF4-FFF2-40B4-BE49-F238E27FC236}">
                <a16:creationId xmlns:a16="http://schemas.microsoft.com/office/drawing/2014/main" id="{1D689132-058B-3868-DC72-C3BA5509CC3D}"/>
              </a:ext>
            </a:extLst>
          </p:cNvPr>
          <p:cNvSpPr/>
          <p:nvPr/>
        </p:nvSpPr>
        <p:spPr>
          <a:xfrm rot="5400000">
            <a:off x="2651740" y="4794458"/>
            <a:ext cx="283028" cy="446781"/>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9060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CEC32-627A-A24E-5956-1850F97335DE}"/>
              </a:ext>
            </a:extLst>
          </p:cNvPr>
          <p:cNvSpPr>
            <a:spLocks noGrp="1"/>
          </p:cNvSpPr>
          <p:nvPr>
            <p:ph type="title"/>
          </p:nvPr>
        </p:nvSpPr>
        <p:spPr/>
        <p:txBody>
          <a:bodyPr/>
          <a:lstStyle/>
          <a:p>
            <a:r>
              <a:rPr lang="en-GB" b="1" u="sng"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LOCAL    SEARCH   ALGORITHMS</a:t>
            </a:r>
          </a:p>
        </p:txBody>
      </p:sp>
      <p:sp>
        <p:nvSpPr>
          <p:cNvPr id="4" name="TextBox 3">
            <a:extLst>
              <a:ext uri="{FF2B5EF4-FFF2-40B4-BE49-F238E27FC236}">
                <a16:creationId xmlns:a16="http://schemas.microsoft.com/office/drawing/2014/main" id="{CC4CA49A-A130-196A-853D-0366CC8CEA3A}"/>
              </a:ext>
            </a:extLst>
          </p:cNvPr>
          <p:cNvSpPr txBox="1"/>
          <p:nvPr/>
        </p:nvSpPr>
        <p:spPr>
          <a:xfrm>
            <a:off x="2307772" y="1617120"/>
            <a:ext cx="9427028" cy="4414029"/>
          </a:xfrm>
          <a:prstGeom prst="rect">
            <a:avLst/>
          </a:prstGeom>
          <a:noFill/>
        </p:spPr>
        <p:txBody>
          <a:bodyPr wrap="square">
            <a:spAutoFit/>
          </a:bodyPr>
          <a:lstStyle/>
          <a:p>
            <a:pPr algn="l" fontAlgn="base">
              <a:lnSpc>
                <a:spcPts val="2100"/>
              </a:lnSpc>
              <a:buNone/>
            </a:pPr>
            <a:r>
              <a:rPr lang="en-GB" sz="2000" b="1" i="0" dirty="0">
                <a:solidFill>
                  <a:srgbClr val="273239"/>
                </a:solidFill>
                <a:effectLst/>
                <a:latin typeface="Times New Roman" panose="02020603050405020304" pitchFamily="18" charset="0"/>
                <a:cs typeface="Times New Roman" panose="02020603050405020304" pitchFamily="18" charset="0"/>
              </a:rPr>
              <a:t>Working of Local Search Algorithms</a:t>
            </a:r>
          </a:p>
          <a:p>
            <a:pPr algn="l" rtl="0"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Step 1: Pick a starting point:</a:t>
            </a:r>
            <a:r>
              <a:rPr lang="en-GB" sz="2000" b="0" i="0" dirty="0">
                <a:solidFill>
                  <a:srgbClr val="273239"/>
                </a:solidFill>
                <a:effectLst/>
                <a:latin typeface="Times New Roman" panose="02020603050405020304" pitchFamily="18" charset="0"/>
                <a:cs typeface="Times New Roman" panose="02020603050405020304" pitchFamily="18" charset="0"/>
              </a:rPr>
              <a:t> Start with a possible solution which is often random but sometimes based on rule.</a:t>
            </a:r>
          </a:p>
          <a:p>
            <a:pPr algn="l" rtl="0"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Step 2: Find the </a:t>
            </a:r>
            <a:r>
              <a:rPr lang="en-GB" sz="2000" b="1" i="0" dirty="0" err="1">
                <a:solidFill>
                  <a:srgbClr val="273239"/>
                </a:solidFill>
                <a:effectLst/>
                <a:latin typeface="Times New Roman" panose="02020603050405020304" pitchFamily="18" charset="0"/>
                <a:cs typeface="Times New Roman" panose="02020603050405020304" pitchFamily="18" charset="0"/>
              </a:rPr>
              <a:t>neighbors</a:t>
            </a:r>
            <a:r>
              <a:rPr lang="en-GB" sz="2000" b="1" i="0" dirty="0">
                <a:solidFill>
                  <a:srgbClr val="273239"/>
                </a:solidFill>
                <a:effectLst/>
                <a:latin typeface="Times New Roman" panose="02020603050405020304" pitchFamily="18" charset="0"/>
                <a:cs typeface="Times New Roman" panose="02020603050405020304" pitchFamily="18" charset="0"/>
              </a:rPr>
              <a:t>:</a:t>
            </a:r>
            <a:endParaRPr lang="en-GB" sz="2000" b="0" i="0" dirty="0">
              <a:solidFill>
                <a:srgbClr val="273239"/>
              </a:solidFill>
              <a:effectLst/>
              <a:latin typeface="Times New Roman" panose="02020603050405020304" pitchFamily="18" charset="0"/>
              <a:cs typeface="Times New Roman" panose="02020603050405020304" pitchFamily="18" charset="0"/>
            </a:endParaRPr>
          </a:p>
          <a:p>
            <a:pPr algn="l" fontAlgn="base">
              <a:spcAft>
                <a:spcPts val="1800"/>
              </a:spcAft>
              <a:buFont typeface="Arial" panose="020B0604020202020204" pitchFamily="34" charset="0"/>
              <a:buChar char="•"/>
            </a:pPr>
            <a:r>
              <a:rPr lang="en-GB" sz="2000" b="0" i="0" dirty="0" err="1">
                <a:solidFill>
                  <a:srgbClr val="273239"/>
                </a:solidFill>
                <a:effectLst/>
                <a:latin typeface="Times New Roman" panose="02020603050405020304" pitchFamily="18" charset="0"/>
                <a:cs typeface="Times New Roman" panose="02020603050405020304" pitchFamily="18" charset="0"/>
              </a:rPr>
              <a:t>Neighbors</a:t>
            </a:r>
            <a:r>
              <a:rPr lang="en-GB" sz="2000" b="0" i="0" dirty="0">
                <a:solidFill>
                  <a:srgbClr val="273239"/>
                </a:solidFill>
                <a:effectLst/>
                <a:latin typeface="Times New Roman" panose="02020603050405020304" pitchFamily="18" charset="0"/>
                <a:cs typeface="Times New Roman" panose="02020603050405020304" pitchFamily="18" charset="0"/>
              </a:rPr>
              <a:t> are similar solutions we can get by making small, simple changes to the current one.</a:t>
            </a:r>
          </a:p>
          <a:p>
            <a:pPr algn="l" fontAlgn="base">
              <a:spcAft>
                <a:spcPts val="1800"/>
              </a:spcAft>
              <a:buFont typeface="Arial" panose="020B0604020202020204" pitchFamily="34" charset="0"/>
              <a:buChar char="•"/>
            </a:pPr>
            <a:r>
              <a:rPr lang="en-GB" sz="2000" b="0" i="0" dirty="0">
                <a:solidFill>
                  <a:srgbClr val="273239"/>
                </a:solidFill>
                <a:effectLst/>
                <a:latin typeface="Times New Roman" panose="02020603050405020304" pitchFamily="18" charset="0"/>
                <a:cs typeface="Times New Roman" panose="02020603050405020304" pitchFamily="18" charset="0"/>
              </a:rPr>
              <a:t>For example, in a puzzle, swapping two pieces creates a </a:t>
            </a:r>
            <a:r>
              <a:rPr lang="en-GB" sz="2000" b="0" i="0" dirty="0" err="1">
                <a:solidFill>
                  <a:srgbClr val="273239"/>
                </a:solidFill>
                <a:effectLst/>
                <a:latin typeface="Times New Roman" panose="02020603050405020304" pitchFamily="18" charset="0"/>
                <a:cs typeface="Times New Roman" panose="02020603050405020304" pitchFamily="18" charset="0"/>
              </a:rPr>
              <a:t>neighbor</a:t>
            </a:r>
            <a:r>
              <a:rPr lang="en-GB" sz="2000" b="0" i="0" dirty="0">
                <a:solidFill>
                  <a:srgbClr val="273239"/>
                </a:solidFill>
                <a:effectLst/>
                <a:latin typeface="Times New Roman" panose="02020603050405020304" pitchFamily="18" charset="0"/>
                <a:cs typeface="Times New Roman" panose="02020603050405020304" pitchFamily="18" charset="0"/>
              </a:rPr>
              <a:t>.</a:t>
            </a:r>
          </a:p>
          <a:p>
            <a:pPr algn="l" rtl="0"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Step 3: Compare:</a:t>
            </a:r>
            <a:r>
              <a:rPr lang="en-GB" sz="2000" b="0" i="0" dirty="0">
                <a:solidFill>
                  <a:srgbClr val="273239"/>
                </a:solidFill>
                <a:effectLst/>
                <a:latin typeface="Times New Roman" panose="02020603050405020304" pitchFamily="18" charset="0"/>
                <a:cs typeface="Times New Roman" panose="02020603050405020304" pitchFamily="18" charset="0"/>
              </a:rPr>
              <a:t> Look around at all </a:t>
            </a:r>
            <a:r>
              <a:rPr lang="en-GB" sz="2000" b="0" i="0" dirty="0" err="1">
                <a:solidFill>
                  <a:srgbClr val="273239"/>
                </a:solidFill>
                <a:effectLst/>
                <a:latin typeface="Times New Roman" panose="02020603050405020304" pitchFamily="18" charset="0"/>
                <a:cs typeface="Times New Roman" panose="02020603050405020304" pitchFamily="18" charset="0"/>
              </a:rPr>
              <a:t>neighbors</a:t>
            </a:r>
            <a:r>
              <a:rPr lang="en-GB" sz="2000" b="0" i="0" dirty="0">
                <a:solidFill>
                  <a:srgbClr val="273239"/>
                </a:solidFill>
                <a:effectLst/>
                <a:latin typeface="Times New Roman" panose="02020603050405020304" pitchFamily="18" charset="0"/>
                <a:cs typeface="Times New Roman" panose="02020603050405020304" pitchFamily="18" charset="0"/>
              </a:rPr>
              <a:t> to see if any are better.</a:t>
            </a:r>
          </a:p>
          <a:p>
            <a:pPr algn="l" rtl="0"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Step 4: Move:</a:t>
            </a:r>
            <a:r>
              <a:rPr lang="en-GB" sz="2000" b="0" i="0" dirty="0">
                <a:solidFill>
                  <a:srgbClr val="273239"/>
                </a:solidFill>
                <a:effectLst/>
                <a:latin typeface="Times New Roman" panose="02020603050405020304" pitchFamily="18" charset="0"/>
                <a:cs typeface="Times New Roman" panose="02020603050405020304" pitchFamily="18" charset="0"/>
              </a:rPr>
              <a:t> If a better </a:t>
            </a:r>
            <a:r>
              <a:rPr lang="en-GB" sz="2000" b="0" i="0" dirty="0" err="1">
                <a:solidFill>
                  <a:srgbClr val="273239"/>
                </a:solidFill>
                <a:effectLst/>
                <a:latin typeface="Times New Roman" panose="02020603050405020304" pitchFamily="18" charset="0"/>
                <a:cs typeface="Times New Roman" panose="02020603050405020304" pitchFamily="18" charset="0"/>
              </a:rPr>
              <a:t>neighbor</a:t>
            </a:r>
            <a:r>
              <a:rPr lang="en-GB" sz="2000" b="0" i="0" dirty="0">
                <a:solidFill>
                  <a:srgbClr val="273239"/>
                </a:solidFill>
                <a:effectLst/>
                <a:latin typeface="Times New Roman" panose="02020603050405020304" pitchFamily="18" charset="0"/>
                <a:cs typeface="Times New Roman" panose="02020603050405020304" pitchFamily="18" charset="0"/>
              </a:rPr>
              <a:t> exists, move to it, making it our new “current” solution.</a:t>
            </a:r>
          </a:p>
          <a:p>
            <a:pPr algn="l" rtl="0"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Step 5: Repeat:</a:t>
            </a:r>
            <a:r>
              <a:rPr lang="en-GB" sz="2000" b="0" i="0" dirty="0">
                <a:solidFill>
                  <a:srgbClr val="273239"/>
                </a:solidFill>
                <a:effectLst/>
                <a:latin typeface="Times New Roman" panose="02020603050405020304" pitchFamily="18" charset="0"/>
                <a:cs typeface="Times New Roman" panose="02020603050405020304" pitchFamily="18" charset="0"/>
              </a:rPr>
              <a:t> Keep searching from the new point, following the same steps.</a:t>
            </a:r>
          </a:p>
          <a:p>
            <a:pPr algn="l" rtl="0" fontAlgn="base">
              <a:spcAft>
                <a:spcPts val="750"/>
              </a:spcAft>
              <a:buNone/>
            </a:pPr>
            <a:r>
              <a:rPr lang="en-GB" sz="2000" b="1" i="0" dirty="0">
                <a:solidFill>
                  <a:srgbClr val="273239"/>
                </a:solidFill>
                <a:effectLst/>
                <a:latin typeface="Times New Roman" panose="02020603050405020304" pitchFamily="18" charset="0"/>
                <a:cs typeface="Times New Roman" panose="02020603050405020304" pitchFamily="18" charset="0"/>
              </a:rPr>
              <a:t>Step 6: Stop:</a:t>
            </a:r>
            <a:r>
              <a:rPr lang="en-GB" sz="2000" b="0" i="0" dirty="0">
                <a:solidFill>
                  <a:srgbClr val="273239"/>
                </a:solidFill>
                <a:effectLst/>
                <a:latin typeface="Times New Roman" panose="02020603050405020304" pitchFamily="18" charset="0"/>
                <a:cs typeface="Times New Roman" panose="02020603050405020304" pitchFamily="18" charset="0"/>
              </a:rPr>
              <a:t> When none of the </a:t>
            </a:r>
            <a:r>
              <a:rPr lang="en-GB" sz="2000" b="0" i="0" dirty="0" err="1">
                <a:solidFill>
                  <a:srgbClr val="273239"/>
                </a:solidFill>
                <a:effectLst/>
                <a:latin typeface="Times New Roman" panose="02020603050405020304" pitchFamily="18" charset="0"/>
                <a:cs typeface="Times New Roman" panose="02020603050405020304" pitchFamily="18" charset="0"/>
              </a:rPr>
              <a:t>neighbors</a:t>
            </a:r>
            <a:r>
              <a:rPr lang="en-GB" sz="2000" b="0" i="0" dirty="0">
                <a:solidFill>
                  <a:srgbClr val="273239"/>
                </a:solidFill>
                <a:effectLst/>
                <a:latin typeface="Times New Roman" panose="02020603050405020304" pitchFamily="18" charset="0"/>
                <a:cs typeface="Times New Roman" panose="02020603050405020304" pitchFamily="18" charset="0"/>
              </a:rPr>
              <a:t> are better or after enough tries.</a:t>
            </a:r>
          </a:p>
        </p:txBody>
      </p:sp>
    </p:spTree>
    <p:extLst>
      <p:ext uri="{BB962C8B-B14F-4D97-AF65-F5344CB8AC3E}">
        <p14:creationId xmlns:p14="http://schemas.microsoft.com/office/powerpoint/2010/main" val="3896771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72327-0715-360E-860C-B11C0635E05F}"/>
              </a:ext>
            </a:extLst>
          </p:cNvPr>
          <p:cNvSpPr>
            <a:spLocks noGrp="1"/>
          </p:cNvSpPr>
          <p:nvPr>
            <p:ph type="title"/>
          </p:nvPr>
        </p:nvSpPr>
        <p:spPr/>
        <p:txBody>
          <a:bodyPr/>
          <a:lstStyle/>
          <a:p>
            <a:br>
              <a:rPr lang="en-GB" dirty="0"/>
            </a:br>
            <a:endParaRPr lang="en-GB" dirty="0"/>
          </a:p>
        </p:txBody>
      </p:sp>
      <p:sp>
        <p:nvSpPr>
          <p:cNvPr id="3" name="TextBox 2">
            <a:extLst>
              <a:ext uri="{FF2B5EF4-FFF2-40B4-BE49-F238E27FC236}">
                <a16:creationId xmlns:a16="http://schemas.microsoft.com/office/drawing/2014/main" id="{1B2CEFEA-4B7B-D49B-F72F-0DBFCA05400E}"/>
              </a:ext>
            </a:extLst>
          </p:cNvPr>
          <p:cNvSpPr txBox="1"/>
          <p:nvPr/>
        </p:nvSpPr>
        <p:spPr>
          <a:xfrm>
            <a:off x="1741714" y="500743"/>
            <a:ext cx="10678886" cy="1323439"/>
          </a:xfrm>
          <a:prstGeom prst="rect">
            <a:avLst/>
          </a:prstGeom>
          <a:noFill/>
        </p:spPr>
        <p:txBody>
          <a:bodyPr wrap="square" rtlCol="0">
            <a:spAutoFit/>
          </a:bodyPr>
          <a:lstStyle/>
          <a:p>
            <a:pPr algn="ctr"/>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1.HILL  CLIMBING  SEARCH   ALGORITHM</a:t>
            </a:r>
          </a:p>
        </p:txBody>
      </p:sp>
      <p:sp>
        <p:nvSpPr>
          <p:cNvPr id="5" name="TextBox 4">
            <a:extLst>
              <a:ext uri="{FF2B5EF4-FFF2-40B4-BE49-F238E27FC236}">
                <a16:creationId xmlns:a16="http://schemas.microsoft.com/office/drawing/2014/main" id="{6B28E29A-A220-9BBB-5CBF-6DE91FD886A4}"/>
              </a:ext>
            </a:extLst>
          </p:cNvPr>
          <p:cNvSpPr txBox="1"/>
          <p:nvPr/>
        </p:nvSpPr>
        <p:spPr>
          <a:xfrm>
            <a:off x="2286000" y="2645229"/>
            <a:ext cx="9133114" cy="1938992"/>
          </a:xfrm>
          <a:prstGeom prst="rect">
            <a:avLst/>
          </a:prstGeom>
          <a:noFill/>
          <a:ln>
            <a:solidFill>
              <a:schemeClr val="bg1"/>
            </a:solidFill>
          </a:ln>
          <a:effectLst>
            <a:glow rad="101600">
              <a:schemeClr val="accent2">
                <a:satMod val="175000"/>
                <a:alpha val="40000"/>
              </a:schemeClr>
            </a:glow>
          </a:effectLst>
        </p:spPr>
        <p:txBody>
          <a:bodyPr wrap="square" rtlCol="0">
            <a:spAutoFit/>
          </a:bodyPr>
          <a:lstStyle/>
          <a:p>
            <a:r>
              <a:rPr lang="en-US" altLang="en-US" sz="2000" dirty="0">
                <a:latin typeface="Times New Roman" panose="02020603050405020304" pitchFamily="18" charset="0"/>
                <a:cs typeface="Times New Roman" panose="02020603050405020304" pitchFamily="18" charset="0"/>
              </a:rPr>
              <a:t>         </a:t>
            </a:r>
          </a:p>
          <a:p>
            <a:r>
              <a:rPr lang="en-US" altLang="en-US" sz="2000" dirty="0">
                <a:latin typeface="Times New Roman" panose="02020603050405020304" pitchFamily="18" charset="0"/>
                <a:cs typeface="Times New Roman" panose="02020603050405020304" pitchFamily="18" charset="0"/>
              </a:rPr>
              <a:t>     Hill Climbing is a local search algorithm that continuously moves towards the neighbor state with the highest value (or lowest cost) until no better neighbors exist. It’s simple and fast but can get stuck in local maxima or plateaus, making it incomplete and not always optimal.</a:t>
            </a:r>
          </a:p>
          <a:p>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6567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2D1DA5-6AC2-B3E5-CBB5-9ADBFCA7B92F}"/>
              </a:ext>
            </a:extLst>
          </p:cNvPr>
          <p:cNvSpPr txBox="1"/>
          <p:nvPr/>
        </p:nvSpPr>
        <p:spPr>
          <a:xfrm>
            <a:off x="4256314" y="228600"/>
            <a:ext cx="6313715" cy="707886"/>
          </a:xfrm>
          <a:prstGeom prst="rect">
            <a:avLst/>
          </a:prstGeom>
          <a:noFill/>
        </p:spPr>
        <p:txBody>
          <a:bodyPr wrap="square" rtlCol="0">
            <a:sp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p:pic>
        <p:nvPicPr>
          <p:cNvPr id="6" name="Picture 5">
            <a:extLst>
              <a:ext uri="{FF2B5EF4-FFF2-40B4-BE49-F238E27FC236}">
                <a16:creationId xmlns:a16="http://schemas.microsoft.com/office/drawing/2014/main" id="{1EC698D1-26DF-A79E-5A2A-306BAD0DEA86}"/>
              </a:ext>
            </a:extLst>
          </p:cNvPr>
          <p:cNvPicPr>
            <a:picLocks noChangeAspect="1"/>
          </p:cNvPicPr>
          <p:nvPr/>
        </p:nvPicPr>
        <p:blipFill>
          <a:blip r:embed="rId2"/>
          <a:srcRect r="35495"/>
          <a:stretch>
            <a:fillRect/>
          </a:stretch>
        </p:blipFill>
        <p:spPr>
          <a:xfrm>
            <a:off x="3009900" y="936486"/>
            <a:ext cx="6172199" cy="5921514"/>
          </a:xfrm>
          <a:prstGeom prst="rect">
            <a:avLst/>
          </a:prstGeom>
        </p:spPr>
      </p:pic>
    </p:spTree>
    <p:extLst>
      <p:ext uri="{BB962C8B-B14F-4D97-AF65-F5344CB8AC3E}">
        <p14:creationId xmlns:p14="http://schemas.microsoft.com/office/powerpoint/2010/main" val="2699653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505B7-B902-3FE8-4D05-F0052DCCBAF7}"/>
              </a:ext>
            </a:extLst>
          </p:cNvPr>
          <p:cNvSpPr>
            <a:spLocks noGrp="1"/>
          </p:cNvSpPr>
          <p:nvPr>
            <p:ph type="title"/>
          </p:nvPr>
        </p:nvSpPr>
        <p:spPr>
          <a:xfrm>
            <a:off x="2973924" y="275767"/>
            <a:ext cx="8911687" cy="1280890"/>
          </a:xfrm>
        </p:spPr>
        <p:txBody>
          <a:bodyPr>
            <a:norm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2.SIMULATED ANNEALING</a:t>
            </a:r>
          </a:p>
        </p:txBody>
      </p:sp>
      <p:sp>
        <p:nvSpPr>
          <p:cNvPr id="5" name="TextBox 4">
            <a:extLst>
              <a:ext uri="{FF2B5EF4-FFF2-40B4-BE49-F238E27FC236}">
                <a16:creationId xmlns:a16="http://schemas.microsoft.com/office/drawing/2014/main" id="{E2F3B77A-1E76-D9F1-2324-702A20188C14}"/>
              </a:ext>
            </a:extLst>
          </p:cNvPr>
          <p:cNvSpPr txBox="1"/>
          <p:nvPr/>
        </p:nvSpPr>
        <p:spPr>
          <a:xfrm>
            <a:off x="2373085" y="2144486"/>
            <a:ext cx="8599714" cy="2308324"/>
          </a:xfrm>
          <a:prstGeom prst="rect">
            <a:avLst/>
          </a:prstGeom>
          <a:noFill/>
          <a:ln>
            <a:solidFill>
              <a:schemeClr val="accent3">
                <a:lumMod val="40000"/>
                <a:lumOff val="60000"/>
              </a:schemeClr>
            </a:solidFill>
          </a:ln>
          <a:effectLst>
            <a:glow rad="228600">
              <a:schemeClr val="accent3">
                <a:satMod val="175000"/>
                <a:alpha val="40000"/>
              </a:schemeClr>
            </a:glow>
          </a:effectLst>
        </p:spPr>
        <p:txBody>
          <a:bodyPr wrap="square" rtlCol="0">
            <a:spAutoFit/>
          </a:bodyPr>
          <a:lstStyle/>
          <a:p>
            <a:endParaRPr lang="en-GB" sz="2400" u="sng" dirty="0">
              <a:latin typeface="Times New Roman" panose="02020603050405020304" pitchFamily="18" charset="0"/>
              <a:cs typeface="Times New Roman" panose="02020603050405020304" pitchFamily="18" charset="0"/>
              <a:hlinkClick r:id="rId2"/>
            </a:endParaRPr>
          </a:p>
          <a:p>
            <a:r>
              <a:rPr lang="en-GB" sz="2400" u="sng" dirty="0">
                <a:latin typeface="Times New Roman" panose="02020603050405020304" pitchFamily="18" charset="0"/>
                <a:cs typeface="Times New Roman" panose="02020603050405020304" pitchFamily="18" charset="0"/>
                <a:hlinkClick r:id="rId2"/>
              </a:rPr>
              <a:t>    Simulated Annealing</a:t>
            </a:r>
            <a:r>
              <a:rPr lang="en-GB" sz="2400" dirty="0">
                <a:latin typeface="Times New Roman" panose="02020603050405020304" pitchFamily="18" charset="0"/>
                <a:cs typeface="Times New Roman" panose="02020603050405020304" pitchFamily="18" charset="0"/>
              </a:rPr>
              <a:t> is inspired by the annealing process in metallurgy, where materials are heated and then gradually cooled to remove defects. It allows for occasional moves to worse solutions to escape local optima, with the probability of such moves decreasing over time</a:t>
            </a:r>
          </a:p>
        </p:txBody>
      </p:sp>
    </p:spTree>
    <p:extLst>
      <p:ext uri="{BB962C8B-B14F-4D97-AF65-F5344CB8AC3E}">
        <p14:creationId xmlns:p14="http://schemas.microsoft.com/office/powerpoint/2010/main" val="2926041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2B851-FA1D-93FA-AF8C-632955D97CEC}"/>
              </a:ext>
            </a:extLst>
          </p:cNvPr>
          <p:cNvSpPr>
            <a:spLocks noGrp="1"/>
          </p:cNvSpPr>
          <p:nvPr>
            <p:ph type="title"/>
          </p:nvPr>
        </p:nvSpPr>
        <p:spPr>
          <a:xfrm>
            <a:off x="4966010" y="156024"/>
            <a:ext cx="8911687" cy="1280890"/>
          </a:xfrm>
        </p:spPr>
        <p:txBody>
          <a:bodyPr>
            <a:norm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p:pic>
        <p:nvPicPr>
          <p:cNvPr id="4" name="Picture 3">
            <a:extLst>
              <a:ext uri="{FF2B5EF4-FFF2-40B4-BE49-F238E27FC236}">
                <a16:creationId xmlns:a16="http://schemas.microsoft.com/office/drawing/2014/main" id="{5ED77A39-C4B7-F358-7409-32EFCAA06B16}"/>
              </a:ext>
            </a:extLst>
          </p:cNvPr>
          <p:cNvPicPr>
            <a:picLocks noChangeAspect="1"/>
          </p:cNvPicPr>
          <p:nvPr/>
        </p:nvPicPr>
        <p:blipFill>
          <a:blip r:embed="rId2"/>
          <a:srcRect r="55089"/>
          <a:stretch>
            <a:fillRect/>
          </a:stretch>
        </p:blipFill>
        <p:spPr>
          <a:xfrm>
            <a:off x="3630652" y="914401"/>
            <a:ext cx="5791201" cy="5704114"/>
          </a:xfrm>
          <a:prstGeom prst="rect">
            <a:avLst/>
          </a:prstGeom>
        </p:spPr>
      </p:pic>
    </p:spTree>
    <p:extLst>
      <p:ext uri="{BB962C8B-B14F-4D97-AF65-F5344CB8AC3E}">
        <p14:creationId xmlns:p14="http://schemas.microsoft.com/office/powerpoint/2010/main" val="1347897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ECBB-5D13-6E61-5415-70452A487F54}"/>
              </a:ext>
            </a:extLst>
          </p:cNvPr>
          <p:cNvSpPr>
            <a:spLocks noGrp="1"/>
          </p:cNvSpPr>
          <p:nvPr>
            <p:ph type="title"/>
          </p:nvPr>
        </p:nvSpPr>
        <p:spPr>
          <a:xfrm>
            <a:off x="3442010" y="569682"/>
            <a:ext cx="8911687" cy="1280890"/>
          </a:xfrm>
        </p:spPr>
        <p:txBody>
          <a:bodyPr/>
          <a:lstStyle/>
          <a:p>
            <a:r>
              <a:rPr lang="en-GB" b="1">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3.GENETIC ALGORITHMS</a:t>
            </a:r>
            <a:endParaRPr lang="en-GB"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99255E-60E6-346A-8E75-8CC37876B0F3}"/>
              </a:ext>
            </a:extLst>
          </p:cNvPr>
          <p:cNvSpPr txBox="1"/>
          <p:nvPr/>
        </p:nvSpPr>
        <p:spPr>
          <a:xfrm>
            <a:off x="1752600" y="1850572"/>
            <a:ext cx="9949543" cy="2246769"/>
          </a:xfrm>
          <a:prstGeom prst="rect">
            <a:avLst/>
          </a:prstGeom>
          <a:noFill/>
          <a:ln>
            <a:solidFill>
              <a:schemeClr val="accent3">
                <a:lumMod val="60000"/>
                <a:lumOff val="40000"/>
              </a:schemeClr>
            </a:solidFill>
          </a:ln>
          <a:effectLst>
            <a:glow rad="228600">
              <a:schemeClr val="accent3">
                <a:satMod val="175000"/>
                <a:alpha val="40000"/>
              </a:schemeClr>
            </a:glow>
          </a:effectLst>
        </p:spPr>
        <p:txBody>
          <a:bodyPr wrap="square">
            <a:spAutoFit/>
          </a:bodyPr>
          <a:lstStyle/>
          <a:p>
            <a:endParaRPr lang="en-GB" sz="2000" b="0" i="0" u="sng" dirty="0">
              <a:solidFill>
                <a:srgbClr val="357960"/>
              </a:solidFill>
              <a:effectLst/>
              <a:latin typeface="Times New Roman" panose="02020603050405020304" pitchFamily="18" charset="0"/>
              <a:cs typeface="Times New Roman" panose="02020603050405020304" pitchFamily="18" charset="0"/>
              <a:hlinkClick r:id="rId2"/>
            </a:endParaRPr>
          </a:p>
          <a:p>
            <a:r>
              <a:rPr lang="en-GB" sz="2000" u="sng" dirty="0">
                <a:solidFill>
                  <a:srgbClr val="357960"/>
                </a:solidFill>
                <a:latin typeface="Times New Roman" panose="02020603050405020304" pitchFamily="18" charset="0"/>
                <a:cs typeface="Times New Roman" panose="02020603050405020304" pitchFamily="18" charset="0"/>
                <a:hlinkClick r:id="rId2"/>
              </a:rPr>
              <a:t>      </a:t>
            </a:r>
            <a:r>
              <a:rPr lang="en-GB" sz="2000" b="0" i="0" u="sng" dirty="0">
                <a:solidFill>
                  <a:srgbClr val="357960"/>
                </a:solidFill>
                <a:effectLst/>
                <a:latin typeface="Times New Roman" panose="02020603050405020304" pitchFamily="18" charset="0"/>
                <a:cs typeface="Times New Roman" panose="02020603050405020304" pitchFamily="18" charset="0"/>
                <a:hlinkClick r:id="rId2"/>
              </a:rPr>
              <a:t>Genetic Algorithms</a:t>
            </a:r>
            <a:r>
              <a:rPr lang="en-GB" sz="2000" b="0" i="0" dirty="0">
                <a:solidFill>
                  <a:srgbClr val="273239"/>
                </a:solidFill>
                <a:effectLst/>
                <a:latin typeface="Times New Roman" panose="02020603050405020304" pitchFamily="18" charset="0"/>
                <a:cs typeface="Times New Roman" panose="02020603050405020304" pitchFamily="18" charset="0"/>
              </a:rPr>
              <a:t> (GAs) are inspired by the process of natural selection and evolution.            They     work with a population of solutions and evolve them over time using genetic operators like selection, crossover and mutation.</a:t>
            </a:r>
          </a:p>
          <a:p>
            <a:endParaRPr lang="en-GB" sz="2000" dirty="0">
              <a:solidFill>
                <a:srgbClr val="273239"/>
              </a:solidFill>
              <a:latin typeface="Times New Roman" panose="02020603050405020304" pitchFamily="18" charset="0"/>
              <a:cs typeface="Times New Roman" panose="02020603050405020304" pitchFamily="18" charset="0"/>
            </a:endParaRPr>
          </a:p>
          <a:p>
            <a:endParaRPr lang="en-GB" sz="2000" dirty="0">
              <a:solidFill>
                <a:srgbClr val="273239"/>
              </a:solidFill>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7754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DAE5-4985-B428-DA21-080242300198}"/>
              </a:ext>
            </a:extLst>
          </p:cNvPr>
          <p:cNvSpPr>
            <a:spLocks noGrp="1"/>
          </p:cNvSpPr>
          <p:nvPr>
            <p:ph type="title"/>
          </p:nvPr>
        </p:nvSpPr>
        <p:spPr/>
        <p:txBody>
          <a:bodyPr>
            <a:normAutofit fontScale="90000"/>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 OF GENETIC ALGORITHMS</a:t>
            </a:r>
          </a:p>
        </p:txBody>
      </p:sp>
      <p:sp>
        <p:nvSpPr>
          <p:cNvPr id="4" name="TextBox 3">
            <a:extLst>
              <a:ext uri="{FF2B5EF4-FFF2-40B4-BE49-F238E27FC236}">
                <a16:creationId xmlns:a16="http://schemas.microsoft.com/office/drawing/2014/main" id="{2F66936D-87AD-EDC8-51BF-47338BE2485D}"/>
              </a:ext>
            </a:extLst>
          </p:cNvPr>
          <p:cNvSpPr txBox="1"/>
          <p:nvPr/>
        </p:nvSpPr>
        <p:spPr>
          <a:xfrm>
            <a:off x="3374571" y="1837815"/>
            <a:ext cx="6096000" cy="4396075"/>
          </a:xfrm>
          <a:prstGeom prst="rect">
            <a:avLst/>
          </a:prstGeom>
          <a:noFill/>
        </p:spPr>
        <p:txBody>
          <a:bodyPr wrap="square">
            <a:spAutoFit/>
          </a:bodyPr>
          <a:lstStyle/>
          <a:p>
            <a:pPr algn="l" rtl="0" fontAlgn="base">
              <a:spcAft>
                <a:spcPts val="750"/>
              </a:spcAft>
              <a:buNone/>
            </a:pPr>
            <a:r>
              <a:rPr lang="en-GB" b="1" i="0" dirty="0">
                <a:solidFill>
                  <a:srgbClr val="273239"/>
                </a:solidFill>
                <a:effectLst/>
                <a:latin typeface="Nunito" pitchFamily="2" charset="0"/>
              </a:rPr>
              <a:t>Process</a:t>
            </a:r>
            <a:r>
              <a:rPr lang="en-GB" b="0" i="0" dirty="0">
                <a:solidFill>
                  <a:srgbClr val="273239"/>
                </a:solidFill>
                <a:effectLst/>
                <a:latin typeface="Nunito" pitchFamily="2" charset="0"/>
              </a:rPr>
              <a:t>:</a:t>
            </a:r>
          </a:p>
          <a:p>
            <a:pPr algn="l" fontAlgn="base">
              <a:spcAft>
                <a:spcPts val="1800"/>
              </a:spcAft>
              <a:buFont typeface="Arial" panose="020B0604020202020204" pitchFamily="34" charset="0"/>
              <a:buChar char="•"/>
            </a:pPr>
            <a:r>
              <a:rPr lang="en-GB" b="1" i="0" dirty="0">
                <a:solidFill>
                  <a:srgbClr val="273239"/>
                </a:solidFill>
                <a:effectLst/>
                <a:latin typeface="Nunito" pitchFamily="2" charset="0"/>
              </a:rPr>
              <a:t>Initialize</a:t>
            </a:r>
            <a:r>
              <a:rPr lang="en-GB" b="0" i="0" dirty="0">
                <a:solidFill>
                  <a:srgbClr val="273239"/>
                </a:solidFill>
                <a:effectLst/>
                <a:latin typeface="Nunito" pitchFamily="2" charset="0"/>
              </a:rPr>
              <a:t>: Start with a population of random solutions.</a:t>
            </a:r>
          </a:p>
          <a:p>
            <a:pPr algn="l" fontAlgn="base">
              <a:spcAft>
                <a:spcPts val="1800"/>
              </a:spcAft>
              <a:buFont typeface="Arial" panose="020B0604020202020204" pitchFamily="34" charset="0"/>
              <a:buChar char="•"/>
            </a:pPr>
            <a:r>
              <a:rPr lang="en-GB" b="1" i="0" dirty="0">
                <a:solidFill>
                  <a:srgbClr val="273239"/>
                </a:solidFill>
                <a:effectLst/>
                <a:latin typeface="Nunito" pitchFamily="2" charset="0"/>
              </a:rPr>
              <a:t>Evaluate</a:t>
            </a:r>
            <a:r>
              <a:rPr lang="en-GB" b="0" i="0" dirty="0">
                <a:solidFill>
                  <a:srgbClr val="273239"/>
                </a:solidFill>
                <a:effectLst/>
                <a:latin typeface="Nunito" pitchFamily="2" charset="0"/>
              </a:rPr>
              <a:t>: Assess the fitness of each solution.</a:t>
            </a:r>
          </a:p>
          <a:p>
            <a:pPr algn="l" fontAlgn="base">
              <a:spcAft>
                <a:spcPts val="1800"/>
              </a:spcAft>
              <a:buFont typeface="Arial" panose="020B0604020202020204" pitchFamily="34" charset="0"/>
              <a:buChar char="•"/>
            </a:pPr>
            <a:r>
              <a:rPr lang="en-GB" b="1" i="0" dirty="0">
                <a:solidFill>
                  <a:srgbClr val="273239"/>
                </a:solidFill>
                <a:effectLst/>
                <a:latin typeface="Nunito" pitchFamily="2" charset="0"/>
              </a:rPr>
              <a:t>Select</a:t>
            </a:r>
            <a:r>
              <a:rPr lang="en-GB" b="0" i="0" dirty="0">
                <a:solidFill>
                  <a:srgbClr val="273239"/>
                </a:solidFill>
                <a:effectLst/>
                <a:latin typeface="Nunito" pitchFamily="2" charset="0"/>
              </a:rPr>
              <a:t>: Choose the best solutions for reproduction based on their fitness.</a:t>
            </a:r>
          </a:p>
          <a:p>
            <a:pPr algn="l" fontAlgn="base">
              <a:spcAft>
                <a:spcPts val="1800"/>
              </a:spcAft>
              <a:buFont typeface="Arial" panose="020B0604020202020204" pitchFamily="34" charset="0"/>
              <a:buChar char="•"/>
            </a:pPr>
            <a:r>
              <a:rPr lang="en-GB" b="1" i="0" dirty="0">
                <a:solidFill>
                  <a:srgbClr val="273239"/>
                </a:solidFill>
                <a:effectLst/>
                <a:latin typeface="Nunito" pitchFamily="2" charset="0"/>
              </a:rPr>
              <a:t>Crossover</a:t>
            </a:r>
            <a:r>
              <a:rPr lang="en-GB" b="0" i="0" dirty="0">
                <a:solidFill>
                  <a:srgbClr val="273239"/>
                </a:solidFill>
                <a:effectLst/>
                <a:latin typeface="Nunito" pitchFamily="2" charset="0"/>
              </a:rPr>
              <a:t>: Combine pairs of solutions to produce new offspring.</a:t>
            </a:r>
          </a:p>
          <a:p>
            <a:pPr algn="l" fontAlgn="base">
              <a:spcAft>
                <a:spcPts val="1800"/>
              </a:spcAft>
              <a:buFont typeface="Arial" panose="020B0604020202020204" pitchFamily="34" charset="0"/>
              <a:buChar char="•"/>
            </a:pPr>
            <a:r>
              <a:rPr lang="en-GB" b="1" i="0" dirty="0">
                <a:solidFill>
                  <a:srgbClr val="273239"/>
                </a:solidFill>
                <a:effectLst/>
                <a:latin typeface="Nunito" pitchFamily="2" charset="0"/>
              </a:rPr>
              <a:t>Mutate</a:t>
            </a:r>
            <a:r>
              <a:rPr lang="en-GB" b="0" i="0" dirty="0">
                <a:solidFill>
                  <a:srgbClr val="273239"/>
                </a:solidFill>
                <a:effectLst/>
                <a:latin typeface="Nunito" pitchFamily="2" charset="0"/>
              </a:rPr>
              <a:t>: Apply random changes to offspring to maintain diversity.</a:t>
            </a:r>
          </a:p>
          <a:p>
            <a:pPr algn="l" fontAlgn="base">
              <a:spcAft>
                <a:spcPts val="1800"/>
              </a:spcAft>
              <a:buFont typeface="Arial" panose="020B0604020202020204" pitchFamily="34" charset="0"/>
              <a:buChar char="•"/>
            </a:pPr>
            <a:r>
              <a:rPr lang="en-GB" b="1" i="0" dirty="0">
                <a:solidFill>
                  <a:srgbClr val="273239"/>
                </a:solidFill>
                <a:effectLst/>
                <a:latin typeface="Nunito" pitchFamily="2" charset="0"/>
              </a:rPr>
              <a:t>Replace</a:t>
            </a:r>
            <a:r>
              <a:rPr lang="en-GB" b="0" i="0" dirty="0">
                <a:solidFill>
                  <a:srgbClr val="273239"/>
                </a:solidFill>
                <a:effectLst/>
                <a:latin typeface="Nunito" pitchFamily="2" charset="0"/>
              </a:rPr>
              <a:t>: Form a new population by selecting which solutions to keep.</a:t>
            </a:r>
          </a:p>
        </p:txBody>
      </p:sp>
    </p:spTree>
    <p:extLst>
      <p:ext uri="{BB962C8B-B14F-4D97-AF65-F5344CB8AC3E}">
        <p14:creationId xmlns:p14="http://schemas.microsoft.com/office/powerpoint/2010/main" val="2230261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C7D4-0B02-02E8-E4C3-4B13D959EADF}"/>
              </a:ext>
            </a:extLst>
          </p:cNvPr>
          <p:cNvSpPr>
            <a:spLocks noGrp="1"/>
          </p:cNvSpPr>
          <p:nvPr>
            <p:ph type="title"/>
          </p:nvPr>
        </p:nvSpPr>
        <p:spPr>
          <a:xfrm>
            <a:off x="4301981" y="264882"/>
            <a:ext cx="8911687" cy="1280890"/>
          </a:xfrm>
        </p:spPr>
        <p:txBody>
          <a:bodyPr>
            <a:norm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p:pic>
        <p:nvPicPr>
          <p:cNvPr id="4" name="Picture 3">
            <a:extLst>
              <a:ext uri="{FF2B5EF4-FFF2-40B4-BE49-F238E27FC236}">
                <a16:creationId xmlns:a16="http://schemas.microsoft.com/office/drawing/2014/main" id="{4C85288A-F834-6777-099A-98AD45820376}"/>
              </a:ext>
            </a:extLst>
          </p:cNvPr>
          <p:cNvPicPr>
            <a:picLocks noChangeAspect="1"/>
          </p:cNvPicPr>
          <p:nvPr/>
        </p:nvPicPr>
        <p:blipFill>
          <a:blip r:embed="rId2"/>
          <a:srcRect l="20089" t="5035" r="44626"/>
          <a:stretch>
            <a:fillRect/>
          </a:stretch>
        </p:blipFill>
        <p:spPr>
          <a:xfrm>
            <a:off x="3341915" y="1023257"/>
            <a:ext cx="4301981" cy="5701595"/>
          </a:xfrm>
          <a:prstGeom prst="rect">
            <a:avLst/>
          </a:prstGeom>
        </p:spPr>
      </p:pic>
    </p:spTree>
    <p:extLst>
      <p:ext uri="{BB962C8B-B14F-4D97-AF65-F5344CB8AC3E}">
        <p14:creationId xmlns:p14="http://schemas.microsoft.com/office/powerpoint/2010/main" val="362799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B24C11-FBD6-FF0E-6980-BBBC1A8E1D3F}"/>
              </a:ext>
            </a:extLst>
          </p:cNvPr>
          <p:cNvPicPr>
            <a:picLocks noChangeAspect="1"/>
          </p:cNvPicPr>
          <p:nvPr/>
        </p:nvPicPr>
        <p:blipFill>
          <a:blip r:embed="rId2"/>
          <a:stretch>
            <a:fillRect/>
          </a:stretch>
        </p:blipFill>
        <p:spPr>
          <a:xfrm>
            <a:off x="2714217" y="2624753"/>
            <a:ext cx="5849166" cy="933580"/>
          </a:xfrm>
          <a:prstGeom prst="rect">
            <a:avLst/>
          </a:prstGeom>
        </p:spPr>
      </p:pic>
    </p:spTree>
    <p:extLst>
      <p:ext uri="{BB962C8B-B14F-4D97-AF65-F5344CB8AC3E}">
        <p14:creationId xmlns:p14="http://schemas.microsoft.com/office/powerpoint/2010/main" val="1924373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67432-3567-39BF-236A-3623BB4E0994}"/>
              </a:ext>
            </a:extLst>
          </p:cNvPr>
          <p:cNvSpPr>
            <a:spLocks noGrp="1"/>
          </p:cNvSpPr>
          <p:nvPr>
            <p:ph type="title"/>
          </p:nvPr>
        </p:nvSpPr>
        <p:spPr>
          <a:xfrm>
            <a:off x="3583524" y="439053"/>
            <a:ext cx="8911687" cy="1280890"/>
          </a:xfrm>
        </p:spPr>
        <p:txBody>
          <a:bodyPr>
            <a:norm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TABU SEARCH</a:t>
            </a:r>
          </a:p>
        </p:txBody>
      </p:sp>
      <p:sp>
        <p:nvSpPr>
          <p:cNvPr id="7" name="TextBox 6">
            <a:extLst>
              <a:ext uri="{FF2B5EF4-FFF2-40B4-BE49-F238E27FC236}">
                <a16:creationId xmlns:a16="http://schemas.microsoft.com/office/drawing/2014/main" id="{47F8836A-2D8B-46E0-7C3E-5746BE5829A3}"/>
              </a:ext>
            </a:extLst>
          </p:cNvPr>
          <p:cNvSpPr txBox="1"/>
          <p:nvPr/>
        </p:nvSpPr>
        <p:spPr>
          <a:xfrm>
            <a:off x="1611087" y="2767280"/>
            <a:ext cx="9579428" cy="1938992"/>
          </a:xfrm>
          <a:prstGeom prst="rect">
            <a:avLst/>
          </a:prstGeom>
          <a:noFill/>
          <a:ln>
            <a:solidFill>
              <a:schemeClr val="accent3">
                <a:lumMod val="60000"/>
                <a:lumOff val="40000"/>
              </a:schemeClr>
            </a:solidFill>
          </a:ln>
          <a:effectLst>
            <a:glow rad="139700">
              <a:schemeClr val="accent3">
                <a:satMod val="175000"/>
                <a:alpha val="40000"/>
              </a:schemeClr>
            </a:glow>
          </a:effectLst>
        </p:spPr>
        <p:txBody>
          <a:bodyPr wrap="square" rtlCol="0">
            <a:spAutoFit/>
          </a:bodyPr>
          <a:lstStyle/>
          <a:p>
            <a:r>
              <a:rPr lang="en-US" altLang="en-US" sz="2000" dirty="0">
                <a:latin typeface="Times New Roman" panose="02020603050405020304" pitchFamily="18" charset="0"/>
                <a:cs typeface="Times New Roman" panose="02020603050405020304" pitchFamily="18" charset="0"/>
              </a:rPr>
              <a:t>      </a:t>
            </a:r>
          </a:p>
          <a:p>
            <a:r>
              <a:rPr lang="en-US" altLang="en-US" sz="2000" dirty="0">
                <a:latin typeface="Times New Roman" panose="02020603050405020304" pitchFamily="18" charset="0"/>
                <a:cs typeface="Times New Roman" panose="02020603050405020304" pitchFamily="18" charset="0"/>
              </a:rPr>
              <a:t>        Tabu Search is a local search algorithm that uses memory structures to avoid revisiting recently explored solutions. By keeping a “tabu list” of forbidden moves, it helps escape local optima and explore new areas of the search space.</a:t>
            </a:r>
          </a:p>
          <a:p>
            <a:endParaRPr lang="en-US" altLang="en-US" sz="2000" dirty="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717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5720-92C4-FDDC-984E-79B44E0BD804}"/>
              </a:ext>
            </a:extLst>
          </p:cNvPr>
          <p:cNvSpPr>
            <a:spLocks noGrp="1"/>
          </p:cNvSpPr>
          <p:nvPr>
            <p:ph type="title"/>
          </p:nvPr>
        </p:nvSpPr>
        <p:spPr>
          <a:xfrm>
            <a:off x="4062495" y="0"/>
            <a:ext cx="8911687" cy="1280890"/>
          </a:xfrm>
        </p:spPr>
        <p:txBody>
          <a:bodyPr>
            <a:norm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p:pic>
        <p:nvPicPr>
          <p:cNvPr id="4" name="Picture 3">
            <a:extLst>
              <a:ext uri="{FF2B5EF4-FFF2-40B4-BE49-F238E27FC236}">
                <a16:creationId xmlns:a16="http://schemas.microsoft.com/office/drawing/2014/main" id="{5A6319B0-6A6A-6565-609A-D1B3D764FAF9}"/>
              </a:ext>
            </a:extLst>
          </p:cNvPr>
          <p:cNvPicPr>
            <a:picLocks noChangeAspect="1"/>
          </p:cNvPicPr>
          <p:nvPr/>
        </p:nvPicPr>
        <p:blipFill>
          <a:blip r:embed="rId2"/>
          <a:stretch>
            <a:fillRect/>
          </a:stretch>
        </p:blipFill>
        <p:spPr>
          <a:xfrm>
            <a:off x="2941493" y="713014"/>
            <a:ext cx="6920964" cy="6144986"/>
          </a:xfrm>
          <a:prstGeom prst="rect">
            <a:avLst/>
          </a:prstGeom>
        </p:spPr>
      </p:pic>
    </p:spTree>
    <p:extLst>
      <p:ext uri="{BB962C8B-B14F-4D97-AF65-F5344CB8AC3E}">
        <p14:creationId xmlns:p14="http://schemas.microsoft.com/office/powerpoint/2010/main" val="2381692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507303-6234-B2A1-17FC-D923251B79D3}"/>
              </a:ext>
            </a:extLst>
          </p:cNvPr>
          <p:cNvPicPr>
            <a:picLocks noChangeAspect="1"/>
          </p:cNvPicPr>
          <p:nvPr/>
        </p:nvPicPr>
        <p:blipFill>
          <a:blip r:embed="rId2"/>
          <a:stretch>
            <a:fillRect/>
          </a:stretch>
        </p:blipFill>
        <p:spPr>
          <a:xfrm>
            <a:off x="3512289" y="2545855"/>
            <a:ext cx="5668166" cy="1612487"/>
          </a:xfrm>
          <a:prstGeom prst="rect">
            <a:avLst/>
          </a:prstGeom>
        </p:spPr>
      </p:pic>
    </p:spTree>
    <p:extLst>
      <p:ext uri="{BB962C8B-B14F-4D97-AF65-F5344CB8AC3E}">
        <p14:creationId xmlns:p14="http://schemas.microsoft.com/office/powerpoint/2010/main" val="3620936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81A8-F46D-F9CC-71D9-FE228C72AB4E}"/>
              </a:ext>
            </a:extLst>
          </p:cNvPr>
          <p:cNvSpPr>
            <a:spLocks noGrp="1"/>
          </p:cNvSpPr>
          <p:nvPr>
            <p:ph type="title"/>
          </p:nvPr>
        </p:nvSpPr>
        <p:spPr/>
        <p:txBody>
          <a:bodyPr>
            <a:noAutofit/>
          </a:bodyPr>
          <a:lstStyle/>
          <a:p>
            <a:pPr algn="ctr"/>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OPTIMIZATION PROBLEMS IN ARTIFICIAL INTELLIGENCE</a:t>
            </a:r>
          </a:p>
        </p:txBody>
      </p:sp>
      <p:sp>
        <p:nvSpPr>
          <p:cNvPr id="4" name="TextBox 3">
            <a:extLst>
              <a:ext uri="{FF2B5EF4-FFF2-40B4-BE49-F238E27FC236}">
                <a16:creationId xmlns:a16="http://schemas.microsoft.com/office/drawing/2014/main" id="{4EC6F884-2AE8-7BAF-AF46-5CF29CDA9736}"/>
              </a:ext>
            </a:extLst>
          </p:cNvPr>
          <p:cNvSpPr txBox="1"/>
          <p:nvPr/>
        </p:nvSpPr>
        <p:spPr>
          <a:xfrm>
            <a:off x="3222171" y="2840308"/>
            <a:ext cx="7086600" cy="2308324"/>
          </a:xfrm>
          <a:prstGeom prst="rect">
            <a:avLst/>
          </a:prstGeom>
          <a:noFill/>
          <a:ln>
            <a:solidFill>
              <a:schemeClr val="accent3">
                <a:lumMod val="60000"/>
                <a:lumOff val="40000"/>
              </a:schemeClr>
            </a:solidFill>
          </a:ln>
          <a:effectLst>
            <a:glow rad="228600">
              <a:schemeClr val="accent3">
                <a:satMod val="175000"/>
                <a:alpha val="40000"/>
              </a:schemeClr>
            </a:glow>
          </a:effectLst>
        </p:spPr>
        <p:txBody>
          <a:bodyPr wrap="square">
            <a:spAutoFit/>
          </a:bodyPr>
          <a:lstStyle/>
          <a:p>
            <a:pPr algn="just">
              <a:buNone/>
            </a:pPr>
            <a:r>
              <a:rPr lang="en-GB" sz="2400" b="1" dirty="0">
                <a:effectLst/>
                <a:latin typeface="Times New Roman" panose="02020603050405020304" pitchFamily="18" charset="0"/>
                <a:cs typeface="Times New Roman" panose="02020603050405020304" pitchFamily="18" charset="0"/>
              </a:rPr>
              <a:t>🔑 Core Idea</a:t>
            </a:r>
          </a:p>
          <a:p>
            <a:pPr algn="just">
              <a:buNone/>
            </a:pPr>
            <a:r>
              <a:rPr lang="en-GB" sz="2400" dirty="0">
                <a:effectLst/>
                <a:latin typeface="Times New Roman" panose="02020603050405020304" pitchFamily="18" charset="0"/>
                <a:cs typeface="Times New Roman" panose="02020603050405020304" pitchFamily="18" charset="0"/>
              </a:rPr>
              <a:t>	Optimization in AI is about finding the </a:t>
            </a:r>
            <a:r>
              <a:rPr lang="en-GB" sz="2400" b="1" dirty="0">
                <a:effectLst/>
                <a:latin typeface="Times New Roman" panose="02020603050405020304" pitchFamily="18" charset="0"/>
                <a:cs typeface="Times New Roman" panose="02020603050405020304" pitchFamily="18" charset="0"/>
              </a:rPr>
              <a:t>best solution among many possibilities</a:t>
            </a:r>
            <a:r>
              <a:rPr lang="en-GB" sz="2400" dirty="0">
                <a:effectLst/>
                <a:latin typeface="Times New Roman" panose="02020603050405020304" pitchFamily="18" charset="0"/>
                <a:cs typeface="Times New Roman" panose="02020603050405020304" pitchFamily="18" charset="0"/>
              </a:rPr>
              <a:t>. It underpins machine learning, model training, hyperparameter tuning, feature selection, and decision-making in autonomous systems.</a:t>
            </a:r>
          </a:p>
        </p:txBody>
      </p:sp>
    </p:spTree>
    <p:extLst>
      <p:ext uri="{BB962C8B-B14F-4D97-AF65-F5344CB8AC3E}">
        <p14:creationId xmlns:p14="http://schemas.microsoft.com/office/powerpoint/2010/main" val="3946062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5A668A-EE81-7E95-A2E4-A158FDF25AA1}"/>
              </a:ext>
            </a:extLst>
          </p:cNvPr>
          <p:cNvSpPr txBox="1"/>
          <p:nvPr/>
        </p:nvSpPr>
        <p:spPr>
          <a:xfrm>
            <a:off x="2427514" y="1267910"/>
            <a:ext cx="8240486" cy="3785652"/>
          </a:xfrm>
          <a:prstGeom prst="rect">
            <a:avLst/>
          </a:prstGeom>
          <a:noFill/>
          <a:ln>
            <a:solidFill>
              <a:schemeClr val="accent3">
                <a:lumMod val="60000"/>
                <a:lumOff val="40000"/>
              </a:schemeClr>
            </a:solidFill>
          </a:ln>
          <a:effectLst>
            <a:glow rad="228600">
              <a:schemeClr val="accent3">
                <a:satMod val="175000"/>
                <a:alpha val="40000"/>
              </a:schemeClr>
            </a:glow>
          </a:effectLst>
        </p:spPr>
        <p:txBody>
          <a:bodyPr wrap="square">
            <a:spAutoFit/>
          </a:bodyPr>
          <a:lstStyle/>
          <a:p>
            <a:pPr>
              <a:buNone/>
            </a:pPr>
            <a:endParaRPr lang="en-GB" sz="2400" b="1" dirty="0">
              <a:effectLst/>
              <a:latin typeface="Times New Roman" panose="02020603050405020304" pitchFamily="18" charset="0"/>
              <a:cs typeface="Times New Roman" panose="02020603050405020304" pitchFamily="18" charset="0"/>
            </a:endParaRPr>
          </a:p>
          <a:p>
            <a:pPr>
              <a:buNone/>
            </a:pPr>
            <a:r>
              <a:rPr lang="en-GB" sz="2400" b="1" dirty="0">
                <a:effectLst/>
                <a:latin typeface="Times New Roman" panose="02020603050405020304" pitchFamily="18" charset="0"/>
                <a:cs typeface="Times New Roman" panose="02020603050405020304" pitchFamily="18" charset="0"/>
              </a:rPr>
              <a:t>📌 Importance</a:t>
            </a:r>
          </a:p>
          <a:p>
            <a:pPr>
              <a:buFont typeface="Arial" panose="020B0604020202020204" pitchFamily="34" charset="0"/>
              <a:buChar char="•"/>
            </a:pPr>
            <a:r>
              <a:rPr lang="en-GB" sz="2400" dirty="0">
                <a:effectLst/>
                <a:latin typeface="Times New Roman" panose="02020603050405020304" pitchFamily="18" charset="0"/>
                <a:cs typeface="Times New Roman" panose="02020603050405020304" pitchFamily="18" charset="0"/>
              </a:rPr>
              <a:t>Enables AI systems to </a:t>
            </a:r>
            <a:r>
              <a:rPr lang="en-GB" sz="2400" b="1" dirty="0">
                <a:effectLst/>
                <a:latin typeface="Times New Roman" panose="02020603050405020304" pitchFamily="18" charset="0"/>
                <a:cs typeface="Times New Roman" panose="02020603050405020304" pitchFamily="18" charset="0"/>
              </a:rPr>
              <a:t>learn efficiently</a:t>
            </a:r>
            <a:r>
              <a:rPr lang="en-GB" sz="2400" dirty="0">
                <a:effectLst/>
                <a:latin typeface="Times New Roman" panose="02020603050405020304" pitchFamily="18" charset="0"/>
                <a:cs typeface="Times New Roman" panose="02020603050405020304" pitchFamily="18" charset="0"/>
              </a:rPr>
              <a:t> and improve performance.</a:t>
            </a:r>
          </a:p>
          <a:p>
            <a:pPr>
              <a:buFont typeface="Arial" panose="020B0604020202020204" pitchFamily="34" charset="0"/>
              <a:buChar char="•"/>
            </a:pPr>
            <a:r>
              <a:rPr lang="en-GB" sz="2400" dirty="0">
                <a:effectLst/>
                <a:latin typeface="Times New Roman" panose="02020603050405020304" pitchFamily="18" charset="0"/>
                <a:cs typeface="Times New Roman" panose="02020603050405020304" pitchFamily="18" charset="0"/>
              </a:rPr>
              <a:t>Critical for handling </a:t>
            </a:r>
            <a:r>
              <a:rPr lang="en-GB" sz="2400" b="1" dirty="0">
                <a:effectLst/>
                <a:latin typeface="Times New Roman" panose="02020603050405020304" pitchFamily="18" charset="0"/>
                <a:cs typeface="Times New Roman" panose="02020603050405020304" pitchFamily="18" charset="0"/>
              </a:rPr>
              <a:t>large datasets</a:t>
            </a:r>
            <a:r>
              <a:rPr lang="en-GB" sz="2400" dirty="0">
                <a:effectLst/>
                <a:latin typeface="Times New Roman" panose="02020603050405020304" pitchFamily="18" charset="0"/>
                <a:cs typeface="Times New Roman" panose="02020603050405020304" pitchFamily="18" charset="0"/>
              </a:rPr>
              <a:t> and complex decision-making.</a:t>
            </a:r>
          </a:p>
          <a:p>
            <a:pPr>
              <a:buFont typeface="Arial" panose="020B0604020202020204" pitchFamily="34" charset="0"/>
              <a:buChar char="•"/>
            </a:pPr>
            <a:r>
              <a:rPr lang="en-GB" sz="2400" dirty="0">
                <a:effectLst/>
                <a:latin typeface="Times New Roman" panose="02020603050405020304" pitchFamily="18" charset="0"/>
                <a:cs typeface="Times New Roman" panose="02020603050405020304" pitchFamily="18" charset="0"/>
              </a:rPr>
              <a:t>Helps models </a:t>
            </a:r>
            <a:r>
              <a:rPr lang="en-GB" sz="2400" b="1" dirty="0">
                <a:effectLst/>
                <a:latin typeface="Times New Roman" panose="02020603050405020304" pitchFamily="18" charset="0"/>
                <a:cs typeface="Times New Roman" panose="02020603050405020304" pitchFamily="18" charset="0"/>
              </a:rPr>
              <a:t>generalize</a:t>
            </a:r>
            <a:r>
              <a:rPr lang="en-GB" sz="2400" dirty="0">
                <a:effectLst/>
                <a:latin typeface="Times New Roman" panose="02020603050405020304" pitchFamily="18" charset="0"/>
                <a:cs typeface="Times New Roman" panose="02020603050405020304" pitchFamily="18" charset="0"/>
              </a:rPr>
              <a:t> to unseen data.</a:t>
            </a:r>
          </a:p>
          <a:p>
            <a:pPr>
              <a:buFont typeface="Arial" panose="020B0604020202020204" pitchFamily="34" charset="0"/>
              <a:buChar char="•"/>
            </a:pPr>
            <a:r>
              <a:rPr lang="en-GB" sz="2400" dirty="0">
                <a:effectLst/>
                <a:latin typeface="Times New Roman" panose="02020603050405020304" pitchFamily="18" charset="0"/>
                <a:cs typeface="Times New Roman" panose="02020603050405020304" pitchFamily="18" charset="0"/>
              </a:rPr>
              <a:t>Essential in solving </a:t>
            </a:r>
            <a:r>
              <a:rPr lang="en-GB" sz="2400" b="1" dirty="0">
                <a:effectLst/>
                <a:latin typeface="Times New Roman" panose="02020603050405020304" pitchFamily="18" charset="0"/>
                <a:cs typeface="Times New Roman" panose="02020603050405020304" pitchFamily="18" charset="0"/>
              </a:rPr>
              <a:t>real-world problems</a:t>
            </a:r>
            <a:r>
              <a:rPr lang="en-GB" sz="2400" dirty="0">
                <a:effectLst/>
                <a:latin typeface="Times New Roman" panose="02020603050405020304" pitchFamily="18" charset="0"/>
                <a:cs typeface="Times New Roman" panose="02020603050405020304" pitchFamily="18" charset="0"/>
              </a:rPr>
              <a:t> like scheduling, routing, and portfolio management.</a:t>
            </a:r>
          </a:p>
          <a:p>
            <a:pPr>
              <a:buFont typeface="Arial" panose="020B0604020202020204" pitchFamily="34" charset="0"/>
              <a:buChar char="•"/>
            </a:pPr>
            <a:endParaRPr lang="en-GB"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9612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21265C-AD88-508D-9831-F8C610F4F253}"/>
              </a:ext>
            </a:extLst>
          </p:cNvPr>
          <p:cNvSpPr>
            <a:spLocks noGrp="1"/>
          </p:cNvSpPr>
          <p:nvPr>
            <p:ph type="title"/>
          </p:nvPr>
        </p:nvSpPr>
        <p:spPr>
          <a:xfrm>
            <a:off x="2484067" y="1908623"/>
            <a:ext cx="8911687" cy="2249719"/>
          </a:xfrm>
          <a:ln>
            <a:solidFill>
              <a:schemeClr val="accent3">
                <a:lumMod val="60000"/>
                <a:lumOff val="40000"/>
              </a:schemeClr>
            </a:solidFill>
          </a:ln>
          <a:effectLst>
            <a:glow rad="228600">
              <a:schemeClr val="accent3">
                <a:satMod val="175000"/>
                <a:alpha val="40000"/>
              </a:schemeClr>
            </a:glow>
          </a:effectLst>
        </p:spPr>
        <p:txBody>
          <a:bodyPr>
            <a:noAutofit/>
          </a:bodyPr>
          <a:lstStyle/>
          <a:p>
            <a:r>
              <a:rPr lang="en-GB" sz="2000" dirty="0"/>
              <a:t>📈 Applications</a:t>
            </a:r>
            <a:br>
              <a:rPr lang="en-GB" sz="2000" dirty="0"/>
            </a:br>
            <a:r>
              <a:rPr lang="en-GB" sz="2000" dirty="0"/>
              <a:t>        1. Training neural networks.</a:t>
            </a:r>
            <a:br>
              <a:rPr lang="en-GB" sz="2000" dirty="0"/>
            </a:br>
            <a:r>
              <a:rPr lang="en-GB" sz="2000" dirty="0"/>
              <a:t>        2. Hyperparameter tuning.</a:t>
            </a:r>
            <a:br>
              <a:rPr lang="en-GB" sz="2000" dirty="0"/>
            </a:br>
            <a:r>
              <a:rPr lang="en-GB" sz="2000" dirty="0"/>
              <a:t>        3.Feature selection.</a:t>
            </a:r>
            <a:br>
              <a:rPr lang="en-GB" sz="2000" dirty="0"/>
            </a:br>
            <a:r>
              <a:rPr lang="en-GB" sz="2000" dirty="0"/>
              <a:t>        4.Scheduling, resource allocation, and routing.</a:t>
            </a:r>
            <a:br>
              <a:rPr lang="en-GB" sz="2000" dirty="0"/>
            </a:br>
            <a:r>
              <a:rPr lang="en-GB" sz="2000" dirty="0"/>
              <a:t>        5.Decision-making in robotics, finance, and autonomous systems.</a:t>
            </a:r>
            <a:br>
              <a:rPr lang="en-GB" sz="2000" dirty="0"/>
            </a:br>
            <a:endParaRPr lang="en-GB" sz="2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883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97E0E-88AA-2B95-0C0B-28B39DEEBA1B}"/>
              </a:ext>
            </a:extLst>
          </p:cNvPr>
          <p:cNvSpPr>
            <a:spLocks noGrp="1"/>
          </p:cNvSpPr>
          <p:nvPr>
            <p:ph type="title"/>
          </p:nvPr>
        </p:nvSpPr>
        <p:spPr>
          <a:xfrm>
            <a:off x="1874467" y="493481"/>
            <a:ext cx="10012733" cy="1280890"/>
          </a:xfrm>
        </p:spPr>
        <p:txBody>
          <a:bodyPr>
            <a:noAutofit/>
          </a:bodyPr>
          <a:lstStyle/>
          <a:p>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LOCAL SEARCH IN CONTINOUS SPACE</a:t>
            </a:r>
          </a:p>
        </p:txBody>
      </p:sp>
      <p:sp>
        <p:nvSpPr>
          <p:cNvPr id="4" name="TextBox 3">
            <a:extLst>
              <a:ext uri="{FF2B5EF4-FFF2-40B4-BE49-F238E27FC236}">
                <a16:creationId xmlns:a16="http://schemas.microsoft.com/office/drawing/2014/main" id="{711EACB6-5C0D-1FC9-DB56-718AD90DB2C2}"/>
              </a:ext>
            </a:extLst>
          </p:cNvPr>
          <p:cNvSpPr txBox="1"/>
          <p:nvPr/>
        </p:nvSpPr>
        <p:spPr>
          <a:xfrm>
            <a:off x="2242456" y="2597808"/>
            <a:ext cx="8817429" cy="2308324"/>
          </a:xfrm>
          <a:prstGeom prst="rect">
            <a:avLst/>
          </a:prstGeom>
          <a:noFill/>
          <a:ln>
            <a:solidFill>
              <a:schemeClr val="accent3">
                <a:lumMod val="60000"/>
                <a:lumOff val="40000"/>
              </a:schemeClr>
            </a:solidFill>
          </a:ln>
          <a:effectLst>
            <a:glow rad="228600">
              <a:schemeClr val="accent3">
                <a:satMod val="175000"/>
                <a:alpha val="40000"/>
              </a:schemeClr>
            </a:glow>
          </a:effectLst>
        </p:spPr>
        <p:txBody>
          <a:bodyPr wrap="square">
            <a:spAutoFit/>
          </a:bodyPr>
          <a:lstStyle/>
          <a:p>
            <a:pPr>
              <a:buFont typeface="Arial" panose="020B0604020202020204" pitchFamily="34" charset="0"/>
              <a:buChar char="•"/>
            </a:pPr>
            <a:endParaRPr lang="en-GB" sz="24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400" dirty="0">
                <a:effectLst/>
                <a:latin typeface="Times New Roman" panose="02020603050405020304" pitchFamily="18" charset="0"/>
                <a:cs typeface="Times New Roman" panose="02020603050405020304" pitchFamily="18" charset="0"/>
              </a:rPr>
              <a:t>A local Search is first Conducted in the Continuous Space until a local Optimum is reached.</a:t>
            </a:r>
          </a:p>
          <a:p>
            <a:pPr>
              <a:buFont typeface="Arial" panose="020B0604020202020204" pitchFamily="34" charset="0"/>
              <a:buChar char="•"/>
            </a:pPr>
            <a:r>
              <a:rPr lang="en-GB" sz="2400" dirty="0">
                <a:effectLst/>
                <a:latin typeface="Times New Roman" panose="02020603050405020304" pitchFamily="18" charset="0"/>
                <a:cs typeface="Times New Roman" panose="02020603050405020304" pitchFamily="18" charset="0"/>
              </a:rPr>
              <a:t>It then Switches to a discrete space that represents a Discretization of the Continuous model to find an improved solution from there.</a:t>
            </a:r>
          </a:p>
          <a:p>
            <a:endParaRPr lang="en-GB"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4852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76D0E2-1701-01DA-1E11-C55CA23C6C9D}"/>
              </a:ext>
            </a:extLst>
          </p:cNvPr>
          <p:cNvSpPr txBox="1"/>
          <p:nvPr/>
        </p:nvSpPr>
        <p:spPr>
          <a:xfrm>
            <a:off x="2296887" y="1132114"/>
            <a:ext cx="9035142" cy="4154984"/>
          </a:xfrm>
          <a:prstGeom prst="rect">
            <a:avLst/>
          </a:prstGeom>
          <a:noFill/>
          <a:ln>
            <a:solidFill>
              <a:schemeClr val="accent3">
                <a:lumMod val="60000"/>
                <a:lumOff val="40000"/>
              </a:schemeClr>
            </a:solidFill>
          </a:ln>
          <a:effectLst>
            <a:glow rad="228600">
              <a:schemeClr val="accent3">
                <a:satMod val="175000"/>
                <a:alpha val="40000"/>
              </a:schemeClr>
            </a:glow>
          </a:effectLst>
        </p:spPr>
        <p:txBody>
          <a:bodyPr wrap="square" rtlCol="0">
            <a:spAutoFit/>
          </a:bodyPr>
          <a:lstStyle/>
          <a:p>
            <a:pPr lvl="0" defTabSz="914400" eaLnBrk="0" fontAlgn="base" hangingPunct="0">
              <a:spcBef>
                <a:spcPct val="0"/>
              </a:spcBef>
              <a:spcAft>
                <a:spcPct val="0"/>
              </a:spcAft>
              <a:buFontTx/>
              <a:buChar char="•"/>
            </a:pP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The process continues switching between the two problem formulations until no further improvement can be found in either.</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To perform a local search in continuous state space we need techniques from calculus.</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The main technique to find a minimum is called a gradient descent.</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Gradient descent measures how much the output of a function changes, if you change the inputs a little bit.</a:t>
            </a:r>
          </a:p>
          <a:p>
            <a:pPr lvl="0" defTabSz="914400" eaLnBrk="0" fontAlgn="base" hangingPunct="0">
              <a:spcBef>
                <a:spcPct val="0"/>
              </a:spcBef>
              <a:spcAft>
                <a:spcPct val="0"/>
              </a:spcAft>
            </a:pPr>
            <a:endParaRPr lang="en-US" altLang="en-US" sz="2400" dirty="0">
              <a:latin typeface="Arial" panose="020B0604020202020204" pitchFamily="34" charset="0"/>
            </a:endParaRPr>
          </a:p>
          <a:p>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005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79CB1-49AF-56BC-392C-071C04AD58C0}"/>
              </a:ext>
            </a:extLst>
          </p:cNvPr>
          <p:cNvSpPr>
            <a:spLocks noGrp="1"/>
          </p:cNvSpPr>
          <p:nvPr>
            <p:ph type="title"/>
          </p:nvPr>
        </p:nvSpPr>
        <p:spPr>
          <a:xfrm>
            <a:off x="3280313" y="645881"/>
            <a:ext cx="8911687" cy="1280890"/>
          </a:xfrm>
        </p:spPr>
        <p:txBody>
          <a:bodyPr/>
          <a:lstStyle/>
          <a:p>
            <a:r>
              <a:rPr lang="en-GB" b="1" dirty="0">
                <a:solidFill>
                  <a:srgbClr val="7030A0"/>
                </a:solidFill>
                <a:effectLst>
                  <a:outerShdw blurRad="38100" dist="38100" dir="2700000" algn="tl">
                    <a:srgbClr val="000000">
                      <a:alpha val="43137"/>
                    </a:srgbClr>
                  </a:outerShdw>
                </a:effectLst>
              </a:rPr>
              <a:t>	LINEAR REGRESSION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6A9CD12-425D-1247-8BB4-17AC3A327EFB}"/>
                  </a:ext>
                </a:extLst>
              </p:cNvPr>
              <p:cNvSpPr txBox="1"/>
              <p:nvPr/>
            </p:nvSpPr>
            <p:spPr>
              <a:xfrm>
                <a:off x="3280313" y="1523712"/>
                <a:ext cx="6096000" cy="1938992"/>
              </a:xfrm>
              <a:prstGeom prst="rect">
                <a:avLst/>
              </a:prstGeom>
              <a:noFill/>
            </p:spPr>
            <p:txBody>
              <a:bodyPr wrap="square">
                <a:spAutoFit/>
              </a:bodyPr>
              <a:lstStyle/>
              <a:p>
                <a:pPr>
                  <a:buNone/>
                </a:pPr>
                <a:r>
                  <a:rPr lang="en-GB" sz="2000" b="1" dirty="0">
                    <a:effectLst/>
                    <a:latin typeface="Times New Roman" panose="02020603050405020304" pitchFamily="18" charset="0"/>
                    <a:cs typeface="Times New Roman" panose="02020603050405020304" pitchFamily="18" charset="0"/>
                  </a:rPr>
                  <a:t>Linear Regression:</a:t>
                </a:r>
                <a:endParaRPr lang="en-GB"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effectLst/>
                    <a:latin typeface="Times New Roman" panose="02020603050405020304" pitchFamily="18" charset="0"/>
                    <a:cs typeface="Times New Roman" panose="02020603050405020304" pitchFamily="18" charset="0"/>
                  </a:rPr>
                  <a:t>In statistics, linear regression is a linear approach to modelling the relationship between a dependent variable and one or more independent variables.</a:t>
                </a:r>
              </a:p>
              <a:p>
                <a:pPr>
                  <a:buNone/>
                </a:pPr>
                <a:r>
                  <a:rPr lang="en-GB" sz="2000" b="1" dirty="0">
                    <a:effectLst/>
                    <a:latin typeface="Times New Roman" panose="02020603050405020304" pitchFamily="18" charset="0"/>
                    <a:cs typeface="Times New Roman" panose="02020603050405020304" pitchFamily="18" charset="0"/>
                  </a:rPr>
                  <a:t>Equation:</a:t>
                </a:r>
                <a:endParaRPr lang="en-GB" sz="2000" dirty="0">
                  <a:effectLst/>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GB" sz="2000" i="1">
                          <a:latin typeface="Cambria Math" panose="02040503050406030204" pitchFamily="18" charset="0"/>
                        </a:rPr>
                        <m:t>𝑦</m:t>
                      </m:r>
                      <m:r>
                        <a:rPr lang="en-GB" sz="2000" i="0">
                          <a:latin typeface="Cambria Math" panose="02040503050406030204" pitchFamily="18" charset="0"/>
                        </a:rPr>
                        <m:t>=</m:t>
                      </m:r>
                      <m:r>
                        <a:rPr lang="en-GB" sz="2000" i="1">
                          <a:latin typeface="Cambria Math" panose="02040503050406030204" pitchFamily="18" charset="0"/>
                        </a:rPr>
                        <m:t>𝑚𝑥</m:t>
                      </m:r>
                      <m:r>
                        <a:rPr lang="en-GB" sz="2000" i="0">
                          <a:latin typeface="Cambria Math" panose="02040503050406030204" pitchFamily="18" charset="0"/>
                        </a:rPr>
                        <m:t>+</m:t>
                      </m:r>
                      <m:r>
                        <a:rPr lang="en-GB" sz="2000" i="1">
                          <a:latin typeface="Cambria Math" panose="02040503050406030204" pitchFamily="18" charset="0"/>
                        </a:rPr>
                        <m:t>𝑐</m:t>
                      </m:r>
                    </m:oMath>
                  </m:oMathPara>
                </a14:m>
                <a:endParaRPr lang="en-GB" sz="2000" dirty="0">
                  <a:latin typeface="Times New Roman" panose="02020603050405020304" pitchFamily="18" charset="0"/>
                  <a:cs typeface="Times New Roman" panose="02020603050405020304" pitchFamily="18" charset="0"/>
                </a:endParaRPr>
              </a:p>
            </p:txBody>
          </p:sp>
        </mc:Choice>
        <mc:Fallback>
          <p:sp>
            <p:nvSpPr>
              <p:cNvPr id="4" name="TextBox 3">
                <a:extLst>
                  <a:ext uri="{FF2B5EF4-FFF2-40B4-BE49-F238E27FC236}">
                    <a16:creationId xmlns:a16="http://schemas.microsoft.com/office/drawing/2014/main" id="{96A9CD12-425D-1247-8BB4-17AC3A327EFB}"/>
                  </a:ext>
                </a:extLst>
              </p:cNvPr>
              <p:cNvSpPr txBox="1">
                <a:spLocks noRot="1" noChangeAspect="1" noMove="1" noResize="1" noEditPoints="1" noAdjustHandles="1" noChangeArrowheads="1" noChangeShapeType="1" noTextEdit="1"/>
              </p:cNvSpPr>
              <p:nvPr/>
            </p:nvSpPr>
            <p:spPr>
              <a:xfrm>
                <a:off x="3280313" y="1523712"/>
                <a:ext cx="6096000" cy="1938992"/>
              </a:xfrm>
              <a:prstGeom prst="rect">
                <a:avLst/>
              </a:prstGeom>
              <a:blipFill>
                <a:blip r:embed="rId2"/>
                <a:stretch>
                  <a:fillRect l="-1000" t="-1887" b="-943"/>
                </a:stretch>
              </a:blipFill>
            </p:spPr>
            <p:txBody>
              <a:bodyPr/>
              <a:lstStyle/>
              <a:p>
                <a:r>
                  <a:rPr lang="en-GB">
                    <a:noFill/>
                  </a:rPr>
                  <a:t> </a:t>
                </a:r>
              </a:p>
            </p:txBody>
          </p:sp>
        </mc:Fallback>
      </mc:AlternateContent>
      <p:cxnSp>
        <p:nvCxnSpPr>
          <p:cNvPr id="6" name="Straight Connector 5">
            <a:extLst>
              <a:ext uri="{FF2B5EF4-FFF2-40B4-BE49-F238E27FC236}">
                <a16:creationId xmlns:a16="http://schemas.microsoft.com/office/drawing/2014/main" id="{532C0DC7-7134-1401-AF87-AF805E554895}"/>
              </a:ext>
            </a:extLst>
          </p:cNvPr>
          <p:cNvCxnSpPr/>
          <p:nvPr/>
        </p:nvCxnSpPr>
        <p:spPr>
          <a:xfrm>
            <a:off x="6096000" y="4256314"/>
            <a:ext cx="0" cy="1872343"/>
          </a:xfrm>
          <a:prstGeom prst="line">
            <a:avLst/>
          </a:prstGeom>
          <a:ln w="57150"/>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7FB95EB0-A630-47FE-F263-0F5A7422D844}"/>
              </a:ext>
            </a:extLst>
          </p:cNvPr>
          <p:cNvCxnSpPr/>
          <p:nvPr/>
        </p:nvCxnSpPr>
        <p:spPr>
          <a:xfrm>
            <a:off x="3537857" y="5181600"/>
            <a:ext cx="5758543" cy="0"/>
          </a:xfrm>
          <a:prstGeom prst="line">
            <a:avLst/>
          </a:prstGeom>
          <a:ln w="57150"/>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B8247FB3-57BE-8B40-9C59-52B7AFC211E8}"/>
              </a:ext>
            </a:extLst>
          </p:cNvPr>
          <p:cNvCxnSpPr/>
          <p:nvPr/>
        </p:nvCxnSpPr>
        <p:spPr>
          <a:xfrm flipV="1">
            <a:off x="4038600" y="4071257"/>
            <a:ext cx="4223657" cy="2166257"/>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grpSp>
        <p:nvGrpSpPr>
          <p:cNvPr id="14" name="Group 13">
            <a:extLst>
              <a:ext uri="{FF2B5EF4-FFF2-40B4-BE49-F238E27FC236}">
                <a16:creationId xmlns:a16="http://schemas.microsoft.com/office/drawing/2014/main" id="{618CBCD6-18CB-B5D7-D490-0D9B8ED4EF51}"/>
              </a:ext>
            </a:extLst>
          </p:cNvPr>
          <p:cNvGrpSpPr/>
          <p:nvPr/>
        </p:nvGrpSpPr>
        <p:grpSpPr>
          <a:xfrm>
            <a:off x="9513943" y="5040600"/>
            <a:ext cx="401760" cy="273960"/>
            <a:chOff x="9513943" y="5040600"/>
            <a:chExt cx="401760" cy="273960"/>
          </a:xfrm>
        </p:grpSpPr>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C13AB061-2500-7BE8-7301-C5C5131773F1}"/>
                    </a:ext>
                  </a:extLst>
                </p14:cNvPr>
                <p14:cNvContentPartPr/>
                <p14:nvPr/>
              </p14:nvContentPartPr>
              <p14:xfrm>
                <a:off x="9513943" y="5082720"/>
                <a:ext cx="167400" cy="188640"/>
              </p14:xfrm>
            </p:contentPart>
          </mc:Choice>
          <mc:Fallback xmlns="">
            <p:pic>
              <p:nvPicPr>
                <p:cNvPr id="12" name="Ink 11">
                  <a:extLst>
                    <a:ext uri="{FF2B5EF4-FFF2-40B4-BE49-F238E27FC236}">
                      <a16:creationId xmlns:a16="http://schemas.microsoft.com/office/drawing/2014/main" id="{C13AB061-2500-7BE8-7301-C5C5131773F1}"/>
                    </a:ext>
                  </a:extLst>
                </p:cNvPr>
                <p:cNvPicPr/>
                <p:nvPr/>
              </p:nvPicPr>
              <p:blipFill>
                <a:blip r:embed="rId4"/>
                <a:stretch>
                  <a:fillRect/>
                </a:stretch>
              </p:blipFill>
              <p:spPr>
                <a:xfrm>
                  <a:off x="9507823" y="5076600"/>
                  <a:ext cx="17964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56471342-D042-CD97-46C6-F57B588CD722}"/>
                    </a:ext>
                  </a:extLst>
                </p14:cNvPr>
                <p14:cNvContentPartPr/>
                <p14:nvPr/>
              </p14:nvContentPartPr>
              <p14:xfrm>
                <a:off x="9719143" y="5040600"/>
                <a:ext cx="196560" cy="273960"/>
              </p14:xfrm>
            </p:contentPart>
          </mc:Choice>
          <mc:Fallback xmlns="">
            <p:pic>
              <p:nvPicPr>
                <p:cNvPr id="13" name="Ink 12">
                  <a:extLst>
                    <a:ext uri="{FF2B5EF4-FFF2-40B4-BE49-F238E27FC236}">
                      <a16:creationId xmlns:a16="http://schemas.microsoft.com/office/drawing/2014/main" id="{56471342-D042-CD97-46C6-F57B588CD722}"/>
                    </a:ext>
                  </a:extLst>
                </p:cNvPr>
                <p:cNvPicPr/>
                <p:nvPr/>
              </p:nvPicPr>
              <p:blipFill>
                <a:blip r:embed="rId6"/>
                <a:stretch>
                  <a:fillRect/>
                </a:stretch>
              </p:blipFill>
              <p:spPr>
                <a:xfrm>
                  <a:off x="9713023" y="5034480"/>
                  <a:ext cx="208800" cy="28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F5127D14-8FB9-C9E8-0F09-DA0FB7745153}"/>
                  </a:ext>
                </a:extLst>
              </p14:cNvPr>
              <p14:cNvContentPartPr/>
              <p14:nvPr/>
            </p14:nvContentPartPr>
            <p14:xfrm>
              <a:off x="5899903" y="3828840"/>
              <a:ext cx="370080" cy="464400"/>
            </p14:xfrm>
          </p:contentPart>
        </mc:Choice>
        <mc:Fallback xmlns="">
          <p:pic>
            <p:nvPicPr>
              <p:cNvPr id="16" name="Ink 15">
                <a:extLst>
                  <a:ext uri="{FF2B5EF4-FFF2-40B4-BE49-F238E27FC236}">
                    <a16:creationId xmlns:a16="http://schemas.microsoft.com/office/drawing/2014/main" id="{F5127D14-8FB9-C9E8-0F09-DA0FB7745153}"/>
                  </a:ext>
                </a:extLst>
              </p:cNvPr>
              <p:cNvPicPr/>
              <p:nvPr/>
            </p:nvPicPr>
            <p:blipFill>
              <a:blip r:embed="rId8"/>
              <a:stretch>
                <a:fillRect/>
              </a:stretch>
            </p:blipFill>
            <p:spPr>
              <a:xfrm>
                <a:off x="5893783" y="3822720"/>
                <a:ext cx="382320" cy="476640"/>
              </a:xfrm>
              <a:prstGeom prst="rect">
                <a:avLst/>
              </a:prstGeom>
            </p:spPr>
          </p:pic>
        </mc:Fallback>
      </mc:AlternateContent>
      <p:grpSp>
        <p:nvGrpSpPr>
          <p:cNvPr id="31" name="Group 30">
            <a:extLst>
              <a:ext uri="{FF2B5EF4-FFF2-40B4-BE49-F238E27FC236}">
                <a16:creationId xmlns:a16="http://schemas.microsoft.com/office/drawing/2014/main" id="{A16403ED-61C9-5AC2-8D62-04B3D23AC059}"/>
              </a:ext>
            </a:extLst>
          </p:cNvPr>
          <p:cNvGrpSpPr/>
          <p:nvPr/>
        </p:nvGrpSpPr>
        <p:grpSpPr>
          <a:xfrm>
            <a:off x="6901423" y="3417720"/>
            <a:ext cx="2001960" cy="1466640"/>
            <a:chOff x="6901423" y="3417720"/>
            <a:chExt cx="2001960" cy="1466640"/>
          </a:xfrm>
        </p:grpSpPr>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8918E343-3BF8-FFF4-676E-55F3E63FE5EE}"/>
                    </a:ext>
                  </a:extLst>
                </p14:cNvPr>
                <p14:cNvContentPartPr/>
                <p14:nvPr/>
              </p14:nvContentPartPr>
              <p14:xfrm>
                <a:off x="7097263" y="3417720"/>
                <a:ext cx="437040" cy="749880"/>
              </p14:xfrm>
            </p:contentPart>
          </mc:Choice>
          <mc:Fallback xmlns="">
            <p:pic>
              <p:nvPicPr>
                <p:cNvPr id="17" name="Ink 16">
                  <a:extLst>
                    <a:ext uri="{FF2B5EF4-FFF2-40B4-BE49-F238E27FC236}">
                      <a16:creationId xmlns:a16="http://schemas.microsoft.com/office/drawing/2014/main" id="{8918E343-3BF8-FFF4-676E-55F3E63FE5EE}"/>
                    </a:ext>
                  </a:extLst>
                </p:cNvPr>
                <p:cNvPicPr/>
                <p:nvPr/>
              </p:nvPicPr>
              <p:blipFill>
                <a:blip r:embed="rId10"/>
                <a:stretch>
                  <a:fillRect/>
                </a:stretch>
              </p:blipFill>
              <p:spPr>
                <a:xfrm>
                  <a:off x="7091143" y="3411600"/>
                  <a:ext cx="449280" cy="762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DD707213-A0EF-1C0C-CF2D-A694040E0220}"/>
                    </a:ext>
                  </a:extLst>
                </p14:cNvPr>
                <p14:cNvContentPartPr/>
                <p14:nvPr/>
              </p14:nvContentPartPr>
              <p14:xfrm>
                <a:off x="7369063" y="4027200"/>
                <a:ext cx="162720" cy="214200"/>
              </p14:xfrm>
            </p:contentPart>
          </mc:Choice>
          <mc:Fallback xmlns="">
            <p:pic>
              <p:nvPicPr>
                <p:cNvPr id="18" name="Ink 17">
                  <a:extLst>
                    <a:ext uri="{FF2B5EF4-FFF2-40B4-BE49-F238E27FC236}">
                      <a16:creationId xmlns:a16="http://schemas.microsoft.com/office/drawing/2014/main" id="{DD707213-A0EF-1C0C-CF2D-A694040E0220}"/>
                    </a:ext>
                  </a:extLst>
                </p:cNvPr>
                <p:cNvPicPr/>
                <p:nvPr/>
              </p:nvPicPr>
              <p:blipFill>
                <a:blip r:embed="rId12"/>
                <a:stretch>
                  <a:fillRect/>
                </a:stretch>
              </p:blipFill>
              <p:spPr>
                <a:xfrm>
                  <a:off x="7362943" y="4021080"/>
                  <a:ext cx="1749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888B0B84-8B0A-48E6-99C8-DD63C1007819}"/>
                    </a:ext>
                  </a:extLst>
                </p14:cNvPr>
                <p14:cNvContentPartPr/>
                <p14:nvPr/>
              </p14:nvContentPartPr>
              <p14:xfrm>
                <a:off x="7652383" y="4430400"/>
                <a:ext cx="360" cy="445680"/>
              </p14:xfrm>
            </p:contentPart>
          </mc:Choice>
          <mc:Fallback xmlns="">
            <p:pic>
              <p:nvPicPr>
                <p:cNvPr id="20" name="Ink 19">
                  <a:extLst>
                    <a:ext uri="{FF2B5EF4-FFF2-40B4-BE49-F238E27FC236}">
                      <a16:creationId xmlns:a16="http://schemas.microsoft.com/office/drawing/2014/main" id="{888B0B84-8B0A-48E6-99C8-DD63C1007819}"/>
                    </a:ext>
                  </a:extLst>
                </p:cNvPr>
                <p:cNvPicPr/>
                <p:nvPr/>
              </p:nvPicPr>
              <p:blipFill>
                <a:blip r:embed="rId14"/>
                <a:stretch>
                  <a:fillRect/>
                </a:stretch>
              </p:blipFill>
              <p:spPr>
                <a:xfrm>
                  <a:off x="7646263" y="4424280"/>
                  <a:ext cx="1260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00A3C132-20B2-454A-EA21-1A6BEF5077F8}"/>
                    </a:ext>
                  </a:extLst>
                </p14:cNvPr>
                <p14:cNvContentPartPr/>
                <p14:nvPr/>
              </p14:nvContentPartPr>
              <p14:xfrm>
                <a:off x="6901423" y="4822080"/>
                <a:ext cx="739800" cy="22680"/>
              </p14:xfrm>
            </p:contentPart>
          </mc:Choice>
          <mc:Fallback xmlns="">
            <p:pic>
              <p:nvPicPr>
                <p:cNvPr id="21" name="Ink 20">
                  <a:extLst>
                    <a:ext uri="{FF2B5EF4-FFF2-40B4-BE49-F238E27FC236}">
                      <a16:creationId xmlns:a16="http://schemas.microsoft.com/office/drawing/2014/main" id="{00A3C132-20B2-454A-EA21-1A6BEF5077F8}"/>
                    </a:ext>
                  </a:extLst>
                </p:cNvPr>
                <p:cNvPicPr/>
                <p:nvPr/>
              </p:nvPicPr>
              <p:blipFill>
                <a:blip r:embed="rId16"/>
                <a:stretch>
                  <a:fillRect/>
                </a:stretch>
              </p:blipFill>
              <p:spPr>
                <a:xfrm>
                  <a:off x="6895303" y="4815960"/>
                  <a:ext cx="7520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106EF6F5-7C5F-4CFB-491C-8CFD53C89BF9}"/>
                    </a:ext>
                  </a:extLst>
                </p14:cNvPr>
                <p14:cNvContentPartPr/>
                <p14:nvPr/>
              </p14:nvContentPartPr>
              <p14:xfrm>
                <a:off x="7216783" y="4615440"/>
                <a:ext cx="70920" cy="195480"/>
              </p14:xfrm>
            </p:contentPart>
          </mc:Choice>
          <mc:Fallback xmlns="">
            <p:pic>
              <p:nvPicPr>
                <p:cNvPr id="22" name="Ink 21">
                  <a:extLst>
                    <a:ext uri="{FF2B5EF4-FFF2-40B4-BE49-F238E27FC236}">
                      <a16:creationId xmlns:a16="http://schemas.microsoft.com/office/drawing/2014/main" id="{106EF6F5-7C5F-4CFB-491C-8CFD53C89BF9}"/>
                    </a:ext>
                  </a:extLst>
                </p:cNvPr>
                <p:cNvPicPr/>
                <p:nvPr/>
              </p:nvPicPr>
              <p:blipFill>
                <a:blip r:embed="rId18"/>
                <a:stretch>
                  <a:fillRect/>
                </a:stretch>
              </p:blipFill>
              <p:spPr>
                <a:xfrm>
                  <a:off x="7210663" y="4609320"/>
                  <a:ext cx="831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2617B7A9-8D9A-B610-2903-00CD720E7E57}"/>
                    </a:ext>
                  </a:extLst>
                </p14:cNvPr>
                <p14:cNvContentPartPr/>
                <p14:nvPr/>
              </p14:nvContentPartPr>
              <p14:xfrm>
                <a:off x="7347823" y="4632360"/>
                <a:ext cx="37800" cy="179640"/>
              </p14:xfrm>
            </p:contentPart>
          </mc:Choice>
          <mc:Fallback xmlns="">
            <p:pic>
              <p:nvPicPr>
                <p:cNvPr id="23" name="Ink 22">
                  <a:extLst>
                    <a:ext uri="{FF2B5EF4-FFF2-40B4-BE49-F238E27FC236}">
                      <a16:creationId xmlns:a16="http://schemas.microsoft.com/office/drawing/2014/main" id="{2617B7A9-8D9A-B610-2903-00CD720E7E57}"/>
                    </a:ext>
                  </a:extLst>
                </p:cNvPr>
                <p:cNvPicPr/>
                <p:nvPr/>
              </p:nvPicPr>
              <p:blipFill>
                <a:blip r:embed="rId20"/>
                <a:stretch>
                  <a:fillRect/>
                </a:stretch>
              </p:blipFill>
              <p:spPr>
                <a:xfrm>
                  <a:off x="7341703" y="4626240"/>
                  <a:ext cx="500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46458B3C-100E-5E15-959D-DA6859194563}"/>
                    </a:ext>
                  </a:extLst>
                </p14:cNvPr>
                <p14:cNvContentPartPr/>
                <p14:nvPr/>
              </p14:nvContentPartPr>
              <p14:xfrm>
                <a:off x="7456183" y="4463160"/>
                <a:ext cx="45000" cy="347760"/>
              </p14:xfrm>
            </p:contentPart>
          </mc:Choice>
          <mc:Fallback xmlns="">
            <p:pic>
              <p:nvPicPr>
                <p:cNvPr id="24" name="Ink 23">
                  <a:extLst>
                    <a:ext uri="{FF2B5EF4-FFF2-40B4-BE49-F238E27FC236}">
                      <a16:creationId xmlns:a16="http://schemas.microsoft.com/office/drawing/2014/main" id="{46458B3C-100E-5E15-959D-DA6859194563}"/>
                    </a:ext>
                  </a:extLst>
                </p:cNvPr>
                <p:cNvPicPr/>
                <p:nvPr/>
              </p:nvPicPr>
              <p:blipFill>
                <a:blip r:embed="rId22"/>
                <a:stretch>
                  <a:fillRect/>
                </a:stretch>
              </p:blipFill>
              <p:spPr>
                <a:xfrm>
                  <a:off x="7450063" y="4457040"/>
                  <a:ext cx="572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Ink 24">
                  <a:extLst>
                    <a:ext uri="{FF2B5EF4-FFF2-40B4-BE49-F238E27FC236}">
                      <a16:creationId xmlns:a16="http://schemas.microsoft.com/office/drawing/2014/main" id="{56C17210-7927-64FE-A5E1-913D33629799}"/>
                    </a:ext>
                  </a:extLst>
                </p14:cNvPr>
                <p14:cNvContentPartPr/>
                <p14:nvPr/>
              </p14:nvContentPartPr>
              <p14:xfrm>
                <a:off x="7500103" y="4441560"/>
                <a:ext cx="34560" cy="337680"/>
              </p14:xfrm>
            </p:contentPart>
          </mc:Choice>
          <mc:Fallback xmlns="">
            <p:pic>
              <p:nvPicPr>
                <p:cNvPr id="25" name="Ink 24">
                  <a:extLst>
                    <a:ext uri="{FF2B5EF4-FFF2-40B4-BE49-F238E27FC236}">
                      <a16:creationId xmlns:a16="http://schemas.microsoft.com/office/drawing/2014/main" id="{56C17210-7927-64FE-A5E1-913D33629799}"/>
                    </a:ext>
                  </a:extLst>
                </p:cNvPr>
                <p:cNvPicPr/>
                <p:nvPr/>
              </p:nvPicPr>
              <p:blipFill>
                <a:blip r:embed="rId24"/>
                <a:stretch>
                  <a:fillRect/>
                </a:stretch>
              </p:blipFill>
              <p:spPr>
                <a:xfrm>
                  <a:off x="7493983" y="4435440"/>
                  <a:ext cx="468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Ink 25">
                  <a:extLst>
                    <a:ext uri="{FF2B5EF4-FFF2-40B4-BE49-F238E27FC236}">
                      <a16:creationId xmlns:a16="http://schemas.microsoft.com/office/drawing/2014/main" id="{56614499-A1D6-6346-85B6-475C4B4A10BD}"/>
                    </a:ext>
                  </a:extLst>
                </p14:cNvPr>
                <p14:cNvContentPartPr/>
                <p14:nvPr/>
              </p14:nvContentPartPr>
              <p14:xfrm>
                <a:off x="7554463" y="4623360"/>
                <a:ext cx="395640" cy="90720"/>
              </p14:xfrm>
            </p:contentPart>
          </mc:Choice>
          <mc:Fallback xmlns="">
            <p:pic>
              <p:nvPicPr>
                <p:cNvPr id="26" name="Ink 25">
                  <a:extLst>
                    <a:ext uri="{FF2B5EF4-FFF2-40B4-BE49-F238E27FC236}">
                      <a16:creationId xmlns:a16="http://schemas.microsoft.com/office/drawing/2014/main" id="{56614499-A1D6-6346-85B6-475C4B4A10BD}"/>
                    </a:ext>
                  </a:extLst>
                </p:cNvPr>
                <p:cNvPicPr/>
                <p:nvPr/>
              </p:nvPicPr>
              <p:blipFill>
                <a:blip r:embed="rId26"/>
                <a:stretch>
                  <a:fillRect/>
                </a:stretch>
              </p:blipFill>
              <p:spPr>
                <a:xfrm>
                  <a:off x="7548343" y="4617240"/>
                  <a:ext cx="4078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Ink 26">
                  <a:extLst>
                    <a:ext uri="{FF2B5EF4-FFF2-40B4-BE49-F238E27FC236}">
                      <a16:creationId xmlns:a16="http://schemas.microsoft.com/office/drawing/2014/main" id="{C89509B6-5375-9ACA-AC4E-88D26F963B09}"/>
                    </a:ext>
                  </a:extLst>
                </p14:cNvPr>
                <p14:cNvContentPartPr/>
                <p14:nvPr/>
              </p14:nvContentPartPr>
              <p14:xfrm>
                <a:off x="7902943" y="4495920"/>
                <a:ext cx="78840" cy="330840"/>
              </p14:xfrm>
            </p:contentPart>
          </mc:Choice>
          <mc:Fallback xmlns="">
            <p:pic>
              <p:nvPicPr>
                <p:cNvPr id="27" name="Ink 26">
                  <a:extLst>
                    <a:ext uri="{FF2B5EF4-FFF2-40B4-BE49-F238E27FC236}">
                      <a16:creationId xmlns:a16="http://schemas.microsoft.com/office/drawing/2014/main" id="{C89509B6-5375-9ACA-AC4E-88D26F963B09}"/>
                    </a:ext>
                  </a:extLst>
                </p:cNvPr>
                <p:cNvPicPr/>
                <p:nvPr/>
              </p:nvPicPr>
              <p:blipFill>
                <a:blip r:embed="rId28"/>
                <a:stretch>
                  <a:fillRect/>
                </a:stretch>
              </p:blipFill>
              <p:spPr>
                <a:xfrm>
                  <a:off x="7896823" y="4489800"/>
                  <a:ext cx="9108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8" name="Ink 27">
                  <a:extLst>
                    <a:ext uri="{FF2B5EF4-FFF2-40B4-BE49-F238E27FC236}">
                      <a16:creationId xmlns:a16="http://schemas.microsoft.com/office/drawing/2014/main" id="{5E1FCC0E-E428-986B-1029-AA915BC7F56F}"/>
                    </a:ext>
                  </a:extLst>
                </p14:cNvPr>
                <p14:cNvContentPartPr/>
                <p14:nvPr/>
              </p14:nvContentPartPr>
              <p14:xfrm>
                <a:off x="8035783" y="4361640"/>
                <a:ext cx="867600" cy="522720"/>
              </p14:xfrm>
            </p:contentPart>
          </mc:Choice>
          <mc:Fallback xmlns="">
            <p:pic>
              <p:nvPicPr>
                <p:cNvPr id="28" name="Ink 27">
                  <a:extLst>
                    <a:ext uri="{FF2B5EF4-FFF2-40B4-BE49-F238E27FC236}">
                      <a16:creationId xmlns:a16="http://schemas.microsoft.com/office/drawing/2014/main" id="{5E1FCC0E-E428-986B-1029-AA915BC7F56F}"/>
                    </a:ext>
                  </a:extLst>
                </p:cNvPr>
                <p:cNvPicPr/>
                <p:nvPr/>
              </p:nvPicPr>
              <p:blipFill>
                <a:blip r:embed="rId30"/>
                <a:stretch>
                  <a:fillRect/>
                </a:stretch>
              </p:blipFill>
              <p:spPr>
                <a:xfrm>
                  <a:off x="8029663" y="4355520"/>
                  <a:ext cx="879840" cy="534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0" name="Ink 29">
                  <a:extLst>
                    <a:ext uri="{FF2B5EF4-FFF2-40B4-BE49-F238E27FC236}">
                      <a16:creationId xmlns:a16="http://schemas.microsoft.com/office/drawing/2014/main" id="{DBE7FFB7-2AF4-9753-AD8D-EC7133C9DD63}"/>
                    </a:ext>
                  </a:extLst>
                </p14:cNvPr>
                <p14:cNvContentPartPr/>
                <p14:nvPr/>
              </p14:nvContentPartPr>
              <p14:xfrm>
                <a:off x="8272663" y="4317720"/>
                <a:ext cx="155520" cy="372600"/>
              </p14:xfrm>
            </p:contentPart>
          </mc:Choice>
          <mc:Fallback xmlns="">
            <p:pic>
              <p:nvPicPr>
                <p:cNvPr id="30" name="Ink 29">
                  <a:extLst>
                    <a:ext uri="{FF2B5EF4-FFF2-40B4-BE49-F238E27FC236}">
                      <a16:creationId xmlns:a16="http://schemas.microsoft.com/office/drawing/2014/main" id="{DBE7FFB7-2AF4-9753-AD8D-EC7133C9DD63}"/>
                    </a:ext>
                  </a:extLst>
                </p:cNvPr>
                <p:cNvPicPr/>
                <p:nvPr/>
              </p:nvPicPr>
              <p:blipFill>
                <a:blip r:embed="rId32"/>
                <a:stretch>
                  <a:fillRect/>
                </a:stretch>
              </p:blipFill>
              <p:spPr>
                <a:xfrm>
                  <a:off x="8266543" y="4311600"/>
                  <a:ext cx="167760" cy="384840"/>
                </a:xfrm>
                <a:prstGeom prst="rect">
                  <a:avLst/>
                </a:prstGeom>
              </p:spPr>
            </p:pic>
          </mc:Fallback>
        </mc:AlternateContent>
      </p:grpSp>
      <p:cxnSp>
        <p:nvCxnSpPr>
          <p:cNvPr id="5" name="Straight Connector 4">
            <a:extLst>
              <a:ext uri="{FF2B5EF4-FFF2-40B4-BE49-F238E27FC236}">
                <a16:creationId xmlns:a16="http://schemas.microsoft.com/office/drawing/2014/main" id="{BB2DFB4F-4E41-C40C-434D-E7A40C1CFAF3}"/>
              </a:ext>
            </a:extLst>
          </p:cNvPr>
          <p:cNvCxnSpPr/>
          <p:nvPr/>
        </p:nvCxnSpPr>
        <p:spPr>
          <a:xfrm>
            <a:off x="6901423" y="4167600"/>
            <a:ext cx="0" cy="149297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Straight Connector 6">
            <a:extLst>
              <a:ext uri="{FF2B5EF4-FFF2-40B4-BE49-F238E27FC236}">
                <a16:creationId xmlns:a16="http://schemas.microsoft.com/office/drawing/2014/main" id="{047527CB-0BFC-4DAD-1D5A-18B80104ADA0}"/>
              </a:ext>
            </a:extLst>
          </p:cNvPr>
          <p:cNvCxnSpPr/>
          <p:nvPr/>
        </p:nvCxnSpPr>
        <p:spPr>
          <a:xfrm>
            <a:off x="7630492" y="4195114"/>
            <a:ext cx="0" cy="1492971"/>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62B3BEE8-80BE-877E-6F80-410031B802CB}"/>
              </a:ext>
            </a:extLst>
          </p:cNvPr>
          <p:cNvSpPr txBox="1"/>
          <p:nvPr/>
        </p:nvSpPr>
        <p:spPr>
          <a:xfrm>
            <a:off x="7097263" y="5271360"/>
            <a:ext cx="555120" cy="369332"/>
          </a:xfrm>
          <a:prstGeom prst="rect">
            <a:avLst/>
          </a:prstGeom>
          <a:noFill/>
        </p:spPr>
        <p:txBody>
          <a:bodyPr wrap="square" rtlCol="0">
            <a:spAutoFit/>
          </a:bodyPr>
          <a:lstStyle/>
          <a:p>
            <a:r>
              <a:rPr lang="az-Cyrl-AZ" dirty="0"/>
              <a:t>Д</a:t>
            </a:r>
            <a:r>
              <a:rPr lang="en-GB" dirty="0"/>
              <a:t>x</a:t>
            </a:r>
          </a:p>
        </p:txBody>
      </p:sp>
      <p:sp>
        <p:nvSpPr>
          <p:cNvPr id="11" name="TextBox 10">
            <a:extLst>
              <a:ext uri="{FF2B5EF4-FFF2-40B4-BE49-F238E27FC236}">
                <a16:creationId xmlns:a16="http://schemas.microsoft.com/office/drawing/2014/main" id="{43B88090-9DD4-39D3-9992-AC934E21DBFD}"/>
              </a:ext>
            </a:extLst>
          </p:cNvPr>
          <p:cNvSpPr txBox="1"/>
          <p:nvPr/>
        </p:nvSpPr>
        <p:spPr>
          <a:xfrm>
            <a:off x="5607719" y="4346729"/>
            <a:ext cx="555120" cy="369332"/>
          </a:xfrm>
          <a:prstGeom prst="rect">
            <a:avLst/>
          </a:prstGeom>
          <a:noFill/>
        </p:spPr>
        <p:txBody>
          <a:bodyPr wrap="square" rtlCol="0">
            <a:spAutoFit/>
          </a:bodyPr>
          <a:lstStyle/>
          <a:p>
            <a:r>
              <a:rPr lang="az-Cyrl-AZ" dirty="0"/>
              <a:t>Д</a:t>
            </a:r>
            <a:r>
              <a:rPr lang="en-GB" dirty="0"/>
              <a:t>y</a:t>
            </a:r>
          </a:p>
        </p:txBody>
      </p:sp>
      <p:cxnSp>
        <p:nvCxnSpPr>
          <p:cNvPr id="19" name="Straight Connector 18">
            <a:extLst>
              <a:ext uri="{FF2B5EF4-FFF2-40B4-BE49-F238E27FC236}">
                <a16:creationId xmlns:a16="http://schemas.microsoft.com/office/drawing/2014/main" id="{147D3B81-F23D-AC61-E37A-4E70EC5B8605}"/>
              </a:ext>
            </a:extLst>
          </p:cNvPr>
          <p:cNvCxnSpPr/>
          <p:nvPr/>
        </p:nvCxnSpPr>
        <p:spPr>
          <a:xfrm>
            <a:off x="5236029" y="4368088"/>
            <a:ext cx="4060371"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D5BCAE3D-3C06-8910-3C3D-75BCD1CB8A43}"/>
              </a:ext>
            </a:extLst>
          </p:cNvPr>
          <p:cNvCxnSpPr/>
          <p:nvPr/>
        </p:nvCxnSpPr>
        <p:spPr>
          <a:xfrm>
            <a:off x="5186597" y="4825699"/>
            <a:ext cx="4060371"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62789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F3A09-188F-3E25-4B61-2D3E7C1B395E}"/>
              </a:ext>
            </a:extLst>
          </p:cNvPr>
          <p:cNvSpPr>
            <a:spLocks noGrp="1"/>
          </p:cNvSpPr>
          <p:nvPr>
            <p:ph type="title"/>
          </p:nvPr>
        </p:nvSpPr>
        <p:spPr>
          <a:xfrm>
            <a:off x="1983324" y="253996"/>
            <a:ext cx="9522876" cy="1280890"/>
          </a:xfrm>
        </p:spPr>
        <p:txBody>
          <a:bodyPr>
            <a:noAutofit/>
          </a:bodyPr>
          <a:lstStyle/>
          <a:p>
            <a:pPr algn="ctr"/>
            <a:r>
              <a:rPr lang="en-GB" sz="40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SEARCHING WITH NON DETERMINISTIC ACTIONS</a:t>
            </a:r>
          </a:p>
        </p:txBody>
      </p:sp>
      <p:pic>
        <p:nvPicPr>
          <p:cNvPr id="4" name="Picture 3">
            <a:extLst>
              <a:ext uri="{FF2B5EF4-FFF2-40B4-BE49-F238E27FC236}">
                <a16:creationId xmlns:a16="http://schemas.microsoft.com/office/drawing/2014/main" id="{E1D15E97-D424-58BD-B7C2-F58A0A9D6493}"/>
              </a:ext>
            </a:extLst>
          </p:cNvPr>
          <p:cNvPicPr>
            <a:picLocks noChangeAspect="1"/>
          </p:cNvPicPr>
          <p:nvPr/>
        </p:nvPicPr>
        <p:blipFill>
          <a:blip r:embed="rId2"/>
          <a:stretch>
            <a:fillRect/>
          </a:stretch>
        </p:blipFill>
        <p:spPr>
          <a:xfrm>
            <a:off x="2549381" y="2415720"/>
            <a:ext cx="8956819" cy="3267531"/>
          </a:xfrm>
          <a:prstGeom prst="roundRect">
            <a:avLst>
              <a:gd name="adj" fmla="val 3798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581973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FF69-D8DB-0D4A-0CD5-8BE858F84825}"/>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2B0FECE1-6616-BC90-0497-ECE51F92AF78}"/>
              </a:ext>
            </a:extLst>
          </p:cNvPr>
          <p:cNvPicPr>
            <a:picLocks noChangeAspect="1"/>
          </p:cNvPicPr>
          <p:nvPr/>
        </p:nvPicPr>
        <p:blipFill>
          <a:blip r:embed="rId2"/>
          <a:stretch>
            <a:fillRect/>
          </a:stretch>
        </p:blipFill>
        <p:spPr>
          <a:xfrm>
            <a:off x="1676399" y="496777"/>
            <a:ext cx="10406743" cy="57371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86601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4E8A-30FD-008B-5BF0-E05AB22A61AF}"/>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08A22622-A749-6B78-38AD-89FB60A3477C}"/>
              </a:ext>
            </a:extLst>
          </p:cNvPr>
          <p:cNvPicPr>
            <a:picLocks noChangeAspect="1"/>
          </p:cNvPicPr>
          <p:nvPr/>
        </p:nvPicPr>
        <p:blipFill>
          <a:blip r:embed="rId2"/>
          <a:stretch>
            <a:fillRect/>
          </a:stretch>
        </p:blipFill>
        <p:spPr>
          <a:xfrm>
            <a:off x="1600200" y="97971"/>
            <a:ext cx="10591800" cy="65423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39819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0B6ACD-E5C0-B858-FA71-FADFFD7C4E04}"/>
              </a:ext>
            </a:extLst>
          </p:cNvPr>
          <p:cNvPicPr>
            <a:picLocks noChangeAspect="1"/>
          </p:cNvPicPr>
          <p:nvPr/>
        </p:nvPicPr>
        <p:blipFill>
          <a:blip r:embed="rId2"/>
          <a:stretch>
            <a:fillRect/>
          </a:stretch>
        </p:blipFill>
        <p:spPr>
          <a:xfrm>
            <a:off x="1937657" y="0"/>
            <a:ext cx="10254343" cy="6858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32399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6C17A1-ACF8-F092-0F8D-AC0459CDAF8D}"/>
              </a:ext>
            </a:extLst>
          </p:cNvPr>
          <p:cNvPicPr>
            <a:picLocks noChangeAspect="1"/>
          </p:cNvPicPr>
          <p:nvPr/>
        </p:nvPicPr>
        <p:blipFill>
          <a:blip r:embed="rId2"/>
          <a:stretch>
            <a:fillRect/>
          </a:stretch>
        </p:blipFill>
        <p:spPr>
          <a:xfrm>
            <a:off x="1665514" y="447914"/>
            <a:ext cx="10395857" cy="5789600"/>
          </a:xfrm>
          <a:prstGeom prst="roundRect">
            <a:avLst>
              <a:gd name="adj" fmla="val 1923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793605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4167E3-E9B0-91A8-FDD0-5819AD2A202A}"/>
              </a:ext>
            </a:extLst>
          </p:cNvPr>
          <p:cNvPicPr>
            <a:picLocks noChangeAspect="1"/>
          </p:cNvPicPr>
          <p:nvPr/>
        </p:nvPicPr>
        <p:blipFill>
          <a:blip r:embed="rId2"/>
          <a:stretch>
            <a:fillRect/>
          </a:stretch>
        </p:blipFill>
        <p:spPr>
          <a:xfrm>
            <a:off x="1219200" y="962511"/>
            <a:ext cx="10809515" cy="5492717"/>
          </a:xfrm>
          <a:prstGeom prst="roundRect">
            <a:avLst>
              <a:gd name="adj" fmla="val 1772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210112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001E95-1478-5B26-2E89-F72A678F399E}"/>
              </a:ext>
            </a:extLst>
          </p:cNvPr>
          <p:cNvPicPr>
            <a:picLocks noChangeAspect="1"/>
          </p:cNvPicPr>
          <p:nvPr/>
        </p:nvPicPr>
        <p:blipFill>
          <a:blip r:embed="rId2"/>
          <a:stretch>
            <a:fillRect/>
          </a:stretch>
        </p:blipFill>
        <p:spPr>
          <a:xfrm>
            <a:off x="1785256" y="478971"/>
            <a:ext cx="10406743" cy="61613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64033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444A4B-CF99-AD07-EF7E-44C3CB0EAD02}"/>
              </a:ext>
            </a:extLst>
          </p:cNvPr>
          <p:cNvPicPr>
            <a:picLocks noChangeAspect="1"/>
          </p:cNvPicPr>
          <p:nvPr/>
        </p:nvPicPr>
        <p:blipFill>
          <a:blip r:embed="rId2"/>
          <a:stretch>
            <a:fillRect/>
          </a:stretch>
        </p:blipFill>
        <p:spPr>
          <a:xfrm>
            <a:off x="1578428" y="1"/>
            <a:ext cx="10613571" cy="6858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239268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85B392-35D9-77D5-19D8-19D1279B534E}"/>
              </a:ext>
            </a:extLst>
          </p:cNvPr>
          <p:cNvPicPr>
            <a:picLocks noChangeAspect="1"/>
          </p:cNvPicPr>
          <p:nvPr/>
        </p:nvPicPr>
        <p:blipFill>
          <a:blip r:embed="rId2"/>
          <a:stretch>
            <a:fillRect/>
          </a:stretch>
        </p:blipFill>
        <p:spPr>
          <a:xfrm>
            <a:off x="2100943" y="929555"/>
            <a:ext cx="10091057" cy="47811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78180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B10370-96A6-1C22-33BE-B92D326FA244}"/>
              </a:ext>
            </a:extLst>
          </p:cNvPr>
          <p:cNvPicPr>
            <a:picLocks noChangeAspect="1"/>
          </p:cNvPicPr>
          <p:nvPr/>
        </p:nvPicPr>
        <p:blipFill>
          <a:blip r:embed="rId2"/>
          <a:stretch>
            <a:fillRect/>
          </a:stretch>
        </p:blipFill>
        <p:spPr>
          <a:xfrm>
            <a:off x="1567542" y="1390"/>
            <a:ext cx="10624457" cy="68552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Rectangle: Rounded Corners 3">
            <a:extLst>
              <a:ext uri="{FF2B5EF4-FFF2-40B4-BE49-F238E27FC236}">
                <a16:creationId xmlns:a16="http://schemas.microsoft.com/office/drawing/2014/main" id="{9E28C1B3-C4CD-8E8F-0412-982BD3C36F8D}"/>
              </a:ext>
            </a:extLst>
          </p:cNvPr>
          <p:cNvSpPr/>
          <p:nvPr/>
        </p:nvSpPr>
        <p:spPr>
          <a:xfrm>
            <a:off x="11473543" y="6281057"/>
            <a:ext cx="718456" cy="57555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3450395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958A45-98DF-2C2D-3588-75788E0B8E05}"/>
              </a:ext>
            </a:extLst>
          </p:cNvPr>
          <p:cNvPicPr>
            <a:picLocks noChangeAspect="1"/>
          </p:cNvPicPr>
          <p:nvPr/>
        </p:nvPicPr>
        <p:blipFill>
          <a:blip r:embed="rId2"/>
          <a:stretch>
            <a:fillRect/>
          </a:stretch>
        </p:blipFill>
        <p:spPr>
          <a:xfrm>
            <a:off x="1524000" y="130629"/>
            <a:ext cx="10668000" cy="672737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339263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E70B19-B6AC-EF41-6FFE-2A49BF2E32A3}"/>
              </a:ext>
            </a:extLst>
          </p:cNvPr>
          <p:cNvPicPr>
            <a:picLocks noChangeAspect="1"/>
          </p:cNvPicPr>
          <p:nvPr/>
        </p:nvPicPr>
        <p:blipFill>
          <a:blip r:embed="rId2"/>
          <a:stretch>
            <a:fillRect/>
          </a:stretch>
        </p:blipFill>
        <p:spPr>
          <a:xfrm>
            <a:off x="1567542" y="1059472"/>
            <a:ext cx="10548257" cy="47390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994521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89F11A-008C-23DD-A7EE-E4B70F7F5851}"/>
              </a:ext>
            </a:extLst>
          </p:cNvPr>
          <p:cNvPicPr>
            <a:picLocks noChangeAspect="1"/>
          </p:cNvPicPr>
          <p:nvPr/>
        </p:nvPicPr>
        <p:blipFill>
          <a:blip r:embed="rId2"/>
          <a:stretch>
            <a:fillRect/>
          </a:stretch>
        </p:blipFill>
        <p:spPr>
          <a:xfrm>
            <a:off x="1524000" y="433047"/>
            <a:ext cx="10668000" cy="599190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9713925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961D8B-8DC7-BE09-C4B8-BF0119E68A26}"/>
              </a:ext>
            </a:extLst>
          </p:cNvPr>
          <p:cNvPicPr>
            <a:picLocks noChangeAspect="1"/>
          </p:cNvPicPr>
          <p:nvPr/>
        </p:nvPicPr>
        <p:blipFill>
          <a:blip r:embed="rId2"/>
          <a:stretch>
            <a:fillRect/>
          </a:stretch>
        </p:blipFill>
        <p:spPr>
          <a:xfrm>
            <a:off x="1611086" y="485638"/>
            <a:ext cx="10428514" cy="58867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766459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02CAC-B77D-52B3-D949-8CAA855BD731}"/>
              </a:ext>
            </a:extLst>
          </p:cNvPr>
          <p:cNvPicPr>
            <a:picLocks noChangeAspect="1"/>
          </p:cNvPicPr>
          <p:nvPr/>
        </p:nvPicPr>
        <p:blipFill>
          <a:blip r:embed="rId2"/>
          <a:stretch>
            <a:fillRect/>
          </a:stretch>
        </p:blipFill>
        <p:spPr>
          <a:xfrm>
            <a:off x="0" y="0"/>
            <a:ext cx="12192000" cy="2144486"/>
          </a:xfrm>
          <a:prstGeom prst="rect">
            <a:avLst/>
          </a:prstGeom>
        </p:spPr>
      </p:pic>
      <p:sp>
        <p:nvSpPr>
          <p:cNvPr id="5" name="TextBox 4">
            <a:extLst>
              <a:ext uri="{FF2B5EF4-FFF2-40B4-BE49-F238E27FC236}">
                <a16:creationId xmlns:a16="http://schemas.microsoft.com/office/drawing/2014/main" id="{6A865F5B-B212-E7C4-920A-94EB949A66DE}"/>
              </a:ext>
            </a:extLst>
          </p:cNvPr>
          <p:cNvSpPr txBox="1"/>
          <p:nvPr/>
        </p:nvSpPr>
        <p:spPr>
          <a:xfrm>
            <a:off x="3254828" y="2427514"/>
            <a:ext cx="8262257" cy="1323439"/>
          </a:xfrm>
          <a:prstGeom prst="rect">
            <a:avLst/>
          </a:prstGeom>
          <a:noFill/>
        </p:spPr>
        <p:txBody>
          <a:bodyPr wrap="square" rtlCol="0">
            <a:spAutoFit/>
          </a:bodyPr>
          <a:lstStyle/>
          <a:p>
            <a:r>
              <a:rPr lang="en-GB" sz="4000" spc="300" dirty="0">
                <a:solidFill>
                  <a:srgbClr val="FF0000"/>
                </a:solidFill>
                <a:latin typeface="Bradley Hand ITC" panose="03070402050302030203" pitchFamily="66" charset="0"/>
              </a:rPr>
              <a:t>A  VERY BIG THANK YOU FOR YOU’RE SUPPORT!!!</a:t>
            </a:r>
          </a:p>
        </p:txBody>
      </p:sp>
      <p:pic>
        <p:nvPicPr>
          <p:cNvPr id="7" name="Picture 6">
            <a:extLst>
              <a:ext uri="{FF2B5EF4-FFF2-40B4-BE49-F238E27FC236}">
                <a16:creationId xmlns:a16="http://schemas.microsoft.com/office/drawing/2014/main" id="{85684E72-2166-2649-E145-66AA2A36F3BE}"/>
              </a:ext>
            </a:extLst>
          </p:cNvPr>
          <p:cNvPicPr>
            <a:picLocks noChangeAspect="1"/>
          </p:cNvPicPr>
          <p:nvPr/>
        </p:nvPicPr>
        <p:blipFill>
          <a:blip r:embed="rId3"/>
          <a:stretch>
            <a:fillRect/>
          </a:stretch>
        </p:blipFill>
        <p:spPr>
          <a:xfrm>
            <a:off x="2766506" y="4368306"/>
            <a:ext cx="2513065" cy="10014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a:extLst>
              <a:ext uri="{FF2B5EF4-FFF2-40B4-BE49-F238E27FC236}">
                <a16:creationId xmlns:a16="http://schemas.microsoft.com/office/drawing/2014/main" id="{FF1C5998-4FF6-C058-438E-4F7DFE220982}"/>
              </a:ext>
            </a:extLst>
          </p:cNvPr>
          <p:cNvPicPr>
            <a:picLocks noChangeAspect="1"/>
          </p:cNvPicPr>
          <p:nvPr/>
        </p:nvPicPr>
        <p:blipFill>
          <a:blip r:embed="rId4"/>
          <a:stretch>
            <a:fillRect/>
          </a:stretch>
        </p:blipFill>
        <p:spPr>
          <a:xfrm>
            <a:off x="5622474" y="4411848"/>
            <a:ext cx="2427514" cy="95794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1" name="Picture 10">
            <a:extLst>
              <a:ext uri="{FF2B5EF4-FFF2-40B4-BE49-F238E27FC236}">
                <a16:creationId xmlns:a16="http://schemas.microsoft.com/office/drawing/2014/main" id="{7416A93F-D042-4C0B-5B14-CB472052A6A7}"/>
              </a:ext>
            </a:extLst>
          </p:cNvPr>
          <p:cNvPicPr>
            <a:picLocks noChangeAspect="1"/>
          </p:cNvPicPr>
          <p:nvPr/>
        </p:nvPicPr>
        <p:blipFill>
          <a:blip r:embed="rId5"/>
          <a:stretch>
            <a:fillRect/>
          </a:stretch>
        </p:blipFill>
        <p:spPr>
          <a:xfrm>
            <a:off x="8207830" y="4368306"/>
            <a:ext cx="3559628" cy="111496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extBox 11">
            <a:extLst>
              <a:ext uri="{FF2B5EF4-FFF2-40B4-BE49-F238E27FC236}">
                <a16:creationId xmlns:a16="http://schemas.microsoft.com/office/drawing/2014/main" id="{175FDF6B-6B72-DF83-347F-19187D89050D}"/>
              </a:ext>
            </a:extLst>
          </p:cNvPr>
          <p:cNvSpPr txBox="1"/>
          <p:nvPr/>
        </p:nvSpPr>
        <p:spPr>
          <a:xfrm>
            <a:off x="2634344" y="5830632"/>
            <a:ext cx="9220200" cy="400110"/>
          </a:xfrm>
          <a:prstGeom prst="rect">
            <a:avLst/>
          </a:prstGeom>
          <a:noFill/>
        </p:spPr>
        <p:txBody>
          <a:bodyPr wrap="square" rtlCol="0">
            <a:spAutoFit/>
          </a:bodyPr>
          <a:lstStyle/>
          <a:p>
            <a:r>
              <a:rPr lang="en-GB" sz="2000" b="1" spc="600" dirty="0">
                <a:solidFill>
                  <a:schemeClr val="accent1"/>
                </a:solidFill>
                <a:latin typeface="Lucida Handwriting" panose="03010101010101010101" pitchFamily="66" charset="0"/>
              </a:rPr>
              <a:t>VIEW DESCRIPTION FOR RESOURCES!!!!</a:t>
            </a:r>
          </a:p>
        </p:txBody>
      </p:sp>
    </p:spTree>
    <p:extLst>
      <p:ext uri="{BB962C8B-B14F-4D97-AF65-F5344CB8AC3E}">
        <p14:creationId xmlns:p14="http://schemas.microsoft.com/office/powerpoint/2010/main" val="3553798510"/>
      </p:ext>
    </p:extLst>
  </p:cSld>
  <p:clrMapOvr>
    <a:masterClrMapping/>
  </p:clrMapOvr>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169</TotalTime>
  <Words>765</Words>
  <Application>Microsoft Office PowerPoint</Application>
  <PresentationFormat>Widescreen</PresentationFormat>
  <Paragraphs>77</Paragraphs>
  <Slides>36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Bradley Hand ITC</vt:lpstr>
      <vt:lpstr>Cambria Math</vt:lpstr>
      <vt:lpstr>Century Gothic</vt:lpstr>
      <vt:lpstr>Lucida Handwriting</vt:lpstr>
      <vt:lpstr>Nunito</vt:lpstr>
      <vt:lpstr>Times New Roman</vt:lpstr>
      <vt:lpstr>Wingdings 3</vt:lpstr>
      <vt:lpstr>Wisp</vt:lpstr>
      <vt:lpstr>PowerPoint Presentation</vt:lpstr>
      <vt:lpstr>UNIT -3</vt:lpstr>
      <vt:lpstr>PowerPoint Presentation</vt:lpstr>
      <vt:lpstr>LOCAL    SEARCH   ALGORITHMS</vt:lpstr>
      <vt:lpstr> </vt:lpstr>
      <vt:lpstr>PowerPoint Presentation</vt:lpstr>
      <vt:lpstr>2.SIMULATED ANNEALING</vt:lpstr>
      <vt:lpstr>EXAMPLE</vt:lpstr>
      <vt:lpstr>3.GENETIC ALGORITHMS</vt:lpstr>
      <vt:lpstr>PROCESS OF GENETIC ALGORITHMS</vt:lpstr>
      <vt:lpstr>EXAMPLE</vt:lpstr>
      <vt:lpstr>PowerPoint Presentation</vt:lpstr>
      <vt:lpstr>TABU SEARCH</vt:lpstr>
      <vt:lpstr>EXAMPLE</vt:lpstr>
      <vt:lpstr>PowerPoint Presentation</vt:lpstr>
      <vt:lpstr>OPTIMIZATION PROBLEMS IN ARTIFICIAL INTELLIGENCE</vt:lpstr>
      <vt:lpstr>PowerPoint Presentation</vt:lpstr>
      <vt:lpstr>📈 Applications         1. Training neural networks.         2. Hyperparameter tuning.         3.Feature selection.         4.Scheduling, resource allocation, and routing.         5.Decision-making in robotics, finance, and autonomous systems. </vt:lpstr>
      <vt:lpstr>LOCAL SEARCH IN CONTINOUS SPACE</vt:lpstr>
      <vt:lpstr>PowerPoint Presentation</vt:lpstr>
      <vt:lpstr> LINEAR REGRESSION</vt:lpstr>
      <vt:lpstr>SEARCHING WITH NON DETERMINISTIC 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SABARISH M S</dc:creator>
  <cp:lastModifiedBy>SABARISH M S</cp:lastModifiedBy>
  <cp:revision>6</cp:revision>
  <dcterms:created xsi:type="dcterms:W3CDTF">2026-01-23T14:29:05Z</dcterms:created>
  <dcterms:modified xsi:type="dcterms:W3CDTF">2026-01-25T03:43:35Z</dcterms:modified>
</cp:coreProperties>
</file>